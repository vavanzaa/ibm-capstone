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548" r:id="rIdAdded48"/>
    <p:sldId id="549" r:id="rIdAdded49"/>
    <p:sldId id="550" r:id="rIdAdde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13" Type="http://schemas.openxmlformats.org/officeDocument/2006/relationships/slide" Target="slides/slide9.xml" /><ns0:Relationship Id="rId18" Type="http://schemas.openxmlformats.org/officeDocument/2006/relationships/slide" Target="slides/slide14.xml" /><ns0:Relationship Id="rId26" Type="http://schemas.openxmlformats.org/officeDocument/2006/relationships/slide" Target="slides/slide22.xml" /><ns0:Relationship Id="rId39" Type="http://schemas.openxmlformats.org/officeDocument/2006/relationships/slide" Target="slides/slide35.xml" /><ns0:Relationship Id="rId21" Type="http://schemas.openxmlformats.org/officeDocument/2006/relationships/slide" Target="slides/slide17.xml" /><ns0:Relationship Id="rId34" Type="http://schemas.openxmlformats.org/officeDocument/2006/relationships/slide" Target="slides/slide30.xml" /><ns0:Relationship Id="rId42" Type="http://schemas.openxmlformats.org/officeDocument/2006/relationships/slide" Target="slides/slide38.xml" /><ns0:Relationship Id="rId47" Type="http://schemas.openxmlformats.org/officeDocument/2006/relationships/slide" Target="slides/slide43.xml" /><ns0:Relationship Id="rId50" Type="http://schemas.openxmlformats.org/officeDocument/2006/relationships/slide" Target="slides/slide46.xml" /><ns0:Relationship Id="rId55" Type="http://schemas.openxmlformats.org/officeDocument/2006/relationships/presProps" Target="presProps.xml" /><ns0:Relationship Id="rId7" Type="http://schemas.openxmlformats.org/officeDocument/2006/relationships/slide" Target="slides/slide3.xml" /><ns0:Relationship Id="rId2" Type="http://schemas.openxmlformats.org/officeDocument/2006/relationships/customXml" Target="../customXml/item2.xml" /><ns0:Relationship Id="rId16" Type="http://schemas.openxmlformats.org/officeDocument/2006/relationships/slide" Target="slides/slide12.xml" /><ns0:Relationship Id="rId29" Type="http://schemas.openxmlformats.org/officeDocument/2006/relationships/slide" Target="slides/slide25.xml" /><ns0:Relationship Id="rId11" Type="http://schemas.openxmlformats.org/officeDocument/2006/relationships/slide" Target="slides/slide7.xml" /><ns0:Relationship Id="rId24" Type="http://schemas.openxmlformats.org/officeDocument/2006/relationships/slide" Target="slides/slide20.xml" /><ns0:Relationship Id="rId32" Type="http://schemas.openxmlformats.org/officeDocument/2006/relationships/slide" Target="slides/slide28.xml" /><ns0:Relationship Id="rId37" Type="http://schemas.openxmlformats.org/officeDocument/2006/relationships/slide" Target="slides/slide33.xml" /><ns0:Relationship Id="rId40" Type="http://schemas.openxmlformats.org/officeDocument/2006/relationships/slide" Target="slides/slide36.xml" /><ns0:Relationship Id="rId45" Type="http://schemas.openxmlformats.org/officeDocument/2006/relationships/slide" Target="slides/slide41.xml" /><ns0:Relationship Id="rId53" Type="http://schemas.openxmlformats.org/officeDocument/2006/relationships/handoutMaster" Target="handoutMasters/handoutMaster1.xml" /><ns0:Relationship Id="rId58" Type="http://schemas.openxmlformats.org/officeDocument/2006/relationships/tableStyles" Target="tableStyles.xml" /><ns0:Relationship Id="rId5" Type="http://schemas.openxmlformats.org/officeDocument/2006/relationships/slide" Target="slides/slide1.xml" /><ns0:Relationship Id="rId19" Type="http://schemas.openxmlformats.org/officeDocument/2006/relationships/slide" Target="slides/slide15.xml" /><ns0:Relationship Id="rId4" Type="http://schemas.openxmlformats.org/officeDocument/2006/relationships/slideMaster" Target="slideMasters/slideMaster1.xml" /><ns0:Relationship Id="rId9" Type="http://schemas.openxmlformats.org/officeDocument/2006/relationships/slide" Target="slides/slide5.xml" /><ns0:Relationship Id="rId14" Type="http://schemas.openxmlformats.org/officeDocument/2006/relationships/slide" Target="slides/slide10.xml" /><ns0:Relationship Id="rId22" Type="http://schemas.openxmlformats.org/officeDocument/2006/relationships/slide" Target="slides/slide18.xml" /><ns0:Relationship Id="rId27" Type="http://schemas.openxmlformats.org/officeDocument/2006/relationships/slide" Target="slides/slide23.xml" /><ns0:Relationship Id="rId30" Type="http://schemas.openxmlformats.org/officeDocument/2006/relationships/slide" Target="slides/slide26.xml" /><ns0:Relationship Id="rId35" Type="http://schemas.openxmlformats.org/officeDocument/2006/relationships/slide" Target="slides/slide31.xml" /><ns0:Relationship Id="rId43" Type="http://schemas.openxmlformats.org/officeDocument/2006/relationships/slide" Target="slides/slide39.xml" /><ns0:Relationship Id="rId48" Type="http://schemas.openxmlformats.org/officeDocument/2006/relationships/slide" Target="slides/slide44.xml" /><ns0:Relationship Id="rId56" Type="http://schemas.openxmlformats.org/officeDocument/2006/relationships/viewProps" Target="viewProps.xml" /><ns0:Relationship Id="rId8" Type="http://schemas.openxmlformats.org/officeDocument/2006/relationships/slide" Target="slides/slide4.xml" /><ns0:Relationship Id="rId51" Type="http://schemas.openxmlformats.org/officeDocument/2006/relationships/slide" Target="slides/slide47.xml" /><ns0:Relationship Id="rId3" Type="http://schemas.openxmlformats.org/officeDocument/2006/relationships/customXml" Target="../customXml/item3.xml" /><ns0:Relationship Id="rId12" Type="http://schemas.openxmlformats.org/officeDocument/2006/relationships/slide" Target="slides/slide8.xml" /><ns0:Relationship Id="rId17" Type="http://schemas.openxmlformats.org/officeDocument/2006/relationships/slide" Target="slides/slide13.xml" /><ns0:Relationship Id="rId25" Type="http://schemas.openxmlformats.org/officeDocument/2006/relationships/slide" Target="slides/slide21.xml" /><ns0:Relationship Id="rId33" Type="http://schemas.openxmlformats.org/officeDocument/2006/relationships/slide" Target="slides/slide29.xml" /><ns0:Relationship Id="rId38" Type="http://schemas.openxmlformats.org/officeDocument/2006/relationships/slide" Target="slides/slide34.xml" /><ns0:Relationship Id="rId46" Type="http://schemas.openxmlformats.org/officeDocument/2006/relationships/slide" Target="slides/slide42.xml" /><ns0:Relationship Id="rId59" Type="http://schemas.microsoft.com/office/2016/11/relationships/changesInfo" Target="changesInfos/changesInfo1.xml" /><ns0:Relationship Id="rId20" Type="http://schemas.openxmlformats.org/officeDocument/2006/relationships/slide" Target="slides/slide16.xml" /><ns0:Relationship Id="rId41" Type="http://schemas.openxmlformats.org/officeDocument/2006/relationships/slide" Target="slides/slide37.xml" /><ns0:Relationship Id="rId54" Type="http://schemas.openxmlformats.org/officeDocument/2006/relationships/commentAuthors" Target="commentAuthors.xml" /><ns0:Relationship Id="rId1" Type="http://schemas.openxmlformats.org/officeDocument/2006/relationships/customXml" Target="../customXml/item1.xml" /><ns0:Relationship Id="rId6" Type="http://schemas.openxmlformats.org/officeDocument/2006/relationships/slide" Target="slides/slide2.xml" /><ns0:Relationship Id="rId15" Type="http://schemas.openxmlformats.org/officeDocument/2006/relationships/slide" Target="slides/slide11.xml" /><ns0:Relationship Id="rId23" Type="http://schemas.openxmlformats.org/officeDocument/2006/relationships/slide" Target="slides/slide19.xml" /><ns0:Relationship Id="rId28" Type="http://schemas.openxmlformats.org/officeDocument/2006/relationships/slide" Target="slides/slide24.xml" /><ns0:Relationship Id="rId36" Type="http://schemas.openxmlformats.org/officeDocument/2006/relationships/slide" Target="slides/slide32.xml" /><ns0:Relationship Id="rId49" Type="http://schemas.openxmlformats.org/officeDocument/2006/relationships/slide" Target="slides/slide45.xml" /><ns0:Relationship Id="rId57" Type="http://schemas.openxmlformats.org/officeDocument/2006/relationships/theme" Target="theme/theme1.xml" /><ns0:Relationship Id="rId10" Type="http://schemas.openxmlformats.org/officeDocument/2006/relationships/slide" Target="slides/slide6.xml" /><ns0:Relationship Id="rId31" Type="http://schemas.openxmlformats.org/officeDocument/2006/relationships/slide" Target="slides/slide27.xml" /><ns0:Relationship Id="rId44" Type="http://schemas.openxmlformats.org/officeDocument/2006/relationships/slide" Target="slides/slide40.xml" /><ns0:Relationship Id="rId52" Type="http://schemas.openxmlformats.org/officeDocument/2006/relationships/notesMaster" Target="notesMasters/notesMaster1.xml" /><ns0:Relationship Id="rId60" Type="http://schemas.microsoft.com/office/2015/10/relationships/revisionInfo" Target="revisionInfo.xml" /><ns0:Relationship Id="rIdAdded48" Type="http://schemas.openxmlformats.org/officeDocument/2006/relationships/slide" Target="slides/slide48.xml" /><ns0:Relationship Id="rIdAdded49" Type="http://schemas.openxmlformats.org/officeDocument/2006/relationships/slide" Target="slides/slide49.xml" /><ns0:Relationship Id="rIdAdded50" Type="http://schemas.openxmlformats.org/officeDocument/2006/relationships/slide" Target="slides/slide50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slide" Target="../slides/slide2.xml" /></ns0:Relationships>
</file>

<file path=ppt/notesSlides/_rels/notesSlide3.xml.rels><?xml version='1.0' encoding='utf-8'?>
<ns0:Relationships xmlns:ns0="http://schemas.openxmlformats.org/package/2006/relationships"><ns0:Relationship Id="rId1" Type="http://schemas.openxmlformats.org/officeDocument/2006/relationships/slide" Target="../slides/slide3.xml" /></ns0:Relationships>
</file>

<file path=ppt/notesSlides/_rels/notesSlide4.xml.rels><?xml version='1.0' encoding='utf-8'?>
<ns0:Relationships xmlns:ns0="http://schemas.openxmlformats.org/package/2006/relationships"><ns0:Relationship Id="rId1" Type="http://schemas.openxmlformats.org/officeDocument/2006/relationships/slide" Target="../slides/slide4.xml" /></ns0:Relationships>
</file>

<file path=ppt/notesSlides/_rels/notesSlide5.xml.rels><?xml version='1.0' encoding='utf-8'?>
<ns0:Relationships xmlns:ns0="http://schemas.openxmlformats.org/package/2006/relationships"><ns0:Relationship Id="rId1" Type="http://schemas.openxmlformats.org/officeDocument/2006/relationships/slide" Target="../slides/slide5.xml" /></ns0:Relationships>
</file>

<file path=ppt/notesSlides/_rels/notesSlide6.xml.rels><?xml version='1.0' encoding='utf-8'?>
<ns0:Relationships xmlns:ns0="http://schemas.openxmlformats.org/package/2006/relationships"><ns0:Relationship Id="rId1" Type="http://schemas.openxmlformats.org/officeDocument/2006/relationships/slide" Target="../slides/slide6.xml" /></ns0:Relationships>
</file>

<file path=ppt/notesSlides/_rels/notesSlide7.xml.rels><?xml version='1.0' encoding='utf-8'?>
<ns0:Relationships xmlns:ns0="http://schemas.openxmlformats.org/package/2006/relationships"><ns0:Relationship Id="rId1" Type="http://schemas.openxmlformats.org/officeDocument/2006/relationships/slide" Target="../slides/slide7.xml" /></ns0:Relationships>
</file>

<file path=ppt/notesSlides/_rels/notesSlide8.xml.rels><?xml version='1.0' encoding='utf-8'?>
<ns0:Relationships xmlns:ns0="http://schemas.openxmlformats.org/package/2006/relationships"><ns0:Relationship Id="rId1" Type="http://schemas.openxmlformats.org/officeDocument/2006/relationships/slide" Target="../slides/slide8.xml" /></ns0:Relationships>
</file>

<file path=ppt/notesSlides/_rels/notesSlide9.xml.rels><?xml version='1.0' encoding='utf-8'?>
<ns0:Relationships xmlns:ns0="http://schemas.openxmlformats.org/package/2006/relationships"><ns0:Relationship Id="rId1" Type="http://schemas.openxmlformats.org/officeDocument/2006/relationships/slide" Target="../slides/slide9.xml" /></ns0:Relationships>
</file>

<file path=ppt/notesSlides/_rels/notesSlide10.xml.rels><?xml version='1.0' encoding='utf-8'?>
<ns0:Relationships xmlns:ns0="http://schemas.openxmlformats.org/package/2006/relationships"><ns0:Relationship Id="rId1" Type="http://schemas.openxmlformats.org/officeDocument/2006/relationships/slide" Target="../slides/slide10.xml" /></ns0:Relationships>
</file>

<file path=ppt/notesSlides/_rels/notesSlide11.xml.rels><?xml version='1.0' encoding='utf-8'?>
<ns0:Relationships xmlns:ns0="http://schemas.openxmlformats.org/package/2006/relationships"><ns0:Relationship Id="rId1" Type="http://schemas.openxmlformats.org/officeDocument/2006/relationships/slide" Target="../slides/slide11.xml" /></ns0:Relationships>
</file>

<file path=ppt/notesSlides/_rels/notesSlide12.xml.rels><?xml version='1.0' encoding='utf-8'?>
<ns0:Relationships xmlns:ns0="http://schemas.openxmlformats.org/package/2006/relationships"><ns0:Relationship Id="rId1" Type="http://schemas.openxmlformats.org/officeDocument/2006/relationships/slide" Target="../slides/slide12.xml" /></ns0:Relationships>
</file>

<file path=ppt/notesSlides/_rels/notesSlide13.xml.rels><?xml version='1.0' encoding='utf-8'?>
<ns0:Relationships xmlns:ns0="http://schemas.openxmlformats.org/package/2006/relationships"><ns0:Relationship Id="rId1" Type="http://schemas.openxmlformats.org/officeDocument/2006/relationships/slide" Target="../slides/slide13.xml" /></ns0:Relationships>
</file>

<file path=ppt/notesSlides/_rels/notesSlide14.xml.rels><?xml version='1.0' encoding='utf-8'?>
<ns0:Relationships xmlns:ns0="http://schemas.openxmlformats.org/package/2006/relationships"><ns0:Relationship Id="rId1" Type="http://schemas.openxmlformats.org/officeDocument/2006/relationships/slide" Target="../slides/slide14.xml" /></ns0:Relationships>
</file>

<file path=ppt/notesSlides/_rels/notesSlide15.xml.rels><?xml version='1.0' encoding='utf-8'?>
<ns0:Relationships xmlns:ns0="http://schemas.openxmlformats.org/package/2006/relationships"><ns0:Relationship Id="rId1" Type="http://schemas.openxmlformats.org/officeDocument/2006/relationships/slide" Target="../slides/slide15.xml" /></ns0:Relationships>
</file>

<file path=ppt/notesSlides/_rels/notesSlide16.xml.rels><?xml version='1.0' encoding='utf-8'?>
<ns0:Relationships xmlns:ns0="http://schemas.openxmlformats.org/package/2006/relationships"><ns0:Relationship Id="rId1" Type="http://schemas.openxmlformats.org/officeDocument/2006/relationships/slide" Target="../slides/slide16.xml" /></ns0:Relationships>
</file>

<file path=ppt/notesSlides/_rels/notesSlide17.xml.rels><?xml version='1.0' encoding='utf-8'?>
<ns0:Relationships xmlns:ns0="http://schemas.openxmlformats.org/package/2006/relationships"><ns0:Relationship Id="rId1" Type="http://schemas.openxmlformats.org/officeDocument/2006/relationships/slide" Target="../slides/slide17.xml" /></ns0:Relationships>
</file>

<file path=ppt/notesSlides/_rels/notesSlide18.xml.rels><?xml version='1.0' encoding='utf-8'?>
<ns0:Relationships xmlns:ns0="http://schemas.openxmlformats.org/package/2006/relationships"><ns0:Relationship Id="rId1" Type="http://schemas.openxmlformats.org/officeDocument/2006/relationships/slide" Target="../slides/slide18.xml" /></ns0:Relationships>
</file>

<file path=ppt/notesSlides/_rels/notesSlide19.xml.rels><?xml version='1.0' encoding='utf-8'?>
<ns0:Relationships xmlns:ns0="http://schemas.openxmlformats.org/package/2006/relationships"><ns0:Relationship Id="rId1" Type="http://schemas.openxmlformats.org/officeDocument/2006/relationships/slide" Target="../slides/slide19.xml" /></ns0:Relationships>
</file>

<file path=ppt/notesSlides/_rels/notesSlide20.xml.rels><?xml version='1.0' encoding='utf-8'?>
<ns0:Relationships xmlns:ns0="http://schemas.openxmlformats.org/package/2006/relationships"><ns0:Relationship Id="rId1" Type="http://schemas.openxmlformats.org/officeDocument/2006/relationships/slide" Target="../slides/slide20.xml" /></ns0:Relationships>
</file>

<file path=ppt/notesSlides/_rels/notesSlide21.xml.rels><?xml version='1.0' encoding='utf-8'?>
<ns0:Relationships xmlns:ns0="http://schemas.openxmlformats.org/package/2006/relationships"><ns0:Relationship Id="rId1" Type="http://schemas.openxmlformats.org/officeDocument/2006/relationships/slide" Target="../slides/slide21.xml" /></ns0:Relationships>
</file>

<file path=ppt/notesSlides/_rels/notesSlide22.xml.rels><?xml version='1.0' encoding='utf-8'?>
<ns0:Relationships xmlns:ns0="http://schemas.openxmlformats.org/package/2006/relationships"><ns0:Relationship Id="rId1" Type="http://schemas.openxmlformats.org/officeDocument/2006/relationships/slide" Target="../slides/slide22.xml" /></ns0:Relationships>
</file>

<file path=ppt/notesSlides/_rels/notesSlide23.xml.rels><?xml version='1.0' encoding='utf-8'?>
<ns0:Relationships xmlns:ns0="http://schemas.openxmlformats.org/package/2006/relationships"><ns0:Relationship Id="rId1" Type="http://schemas.openxmlformats.org/officeDocument/2006/relationships/slide" Target="../slides/slide23.xml" /></ns0:Relationships>
</file>

<file path=ppt/notesSlides/_rels/notesSlide24.xml.rels><?xml version='1.0' encoding='utf-8'?>
<ns0:Relationships xmlns:ns0="http://schemas.openxmlformats.org/package/2006/relationships"><ns0:Relationship Id="rId1" Type="http://schemas.openxmlformats.org/officeDocument/2006/relationships/slide" Target="../slides/slide24.xml" /></ns0:Relationships>
</file>

<file path=ppt/notesSlides/_rels/notesSlide25.xml.rels><?xml version='1.0' encoding='utf-8'?>
<ns0:Relationships xmlns:ns0="http://schemas.openxmlformats.org/package/2006/relationships"><ns0:Relationship Id="rId1" Type="http://schemas.openxmlformats.org/officeDocument/2006/relationships/slide" Target="../slides/slide25.xml" /></ns0:Relationships>
</file>

<file path=ppt/notesSlides/_rels/notesSlide26.xml.rels><?xml version='1.0' encoding='utf-8'?>
<ns0:Relationships xmlns:ns0="http://schemas.openxmlformats.org/package/2006/relationships"><ns0:Relationship Id="rId1" Type="http://schemas.openxmlformats.org/officeDocument/2006/relationships/slide" Target="../slides/slide26.xml" /></ns0:Relationships>
</file>

<file path=ppt/notesSlides/_rels/notesSlide27.xml.rels><?xml version='1.0' encoding='utf-8'?>
<ns0:Relationships xmlns:ns0="http://schemas.openxmlformats.org/package/2006/relationships"><ns0:Relationship Id="rId1" Type="http://schemas.openxmlformats.org/officeDocument/2006/relationships/slide" Target="../slides/slide27.xml" /></ns0:Relationships>
</file>

<file path=ppt/notesSlides/_rels/notesSlide28.xml.rels><?xml version='1.0' encoding='utf-8'?>
<ns0:Relationships xmlns:ns0="http://schemas.openxmlformats.org/package/2006/relationships"><ns0:Relationship Id="rId1" Type="http://schemas.openxmlformats.org/officeDocument/2006/relationships/slide" Target="../slides/slide28.xml" /></ns0:Relationships>
</file>

<file path=ppt/notesSlides/_rels/notesSlide29.xml.rels><?xml version='1.0' encoding='utf-8'?>
<ns0:Relationships xmlns:ns0="http://schemas.openxmlformats.org/package/2006/relationships"><ns0:Relationship Id="rId1" Type="http://schemas.openxmlformats.org/officeDocument/2006/relationships/slide" Target="../slides/slide29.xml" /></ns0:Relationships>
</file>

<file path=ppt/notesSlides/_rels/notesSlide30.xml.rels><?xml version='1.0' encoding='utf-8'?>
<ns0:Relationships xmlns:ns0="http://schemas.openxmlformats.org/package/2006/relationships"><ns0:Relationship Id="rId1" Type="http://schemas.openxmlformats.org/officeDocument/2006/relationships/slide" Target="../slides/slide30.xml" /></ns0:Relationships>
</file>

<file path=ppt/notesSlides/_rels/notesSlide31.xml.rels><?xml version='1.0' encoding='utf-8'?>
<ns0:Relationships xmlns:ns0="http://schemas.openxmlformats.org/package/2006/relationships"><ns0:Relationship Id="rId1" Type="http://schemas.openxmlformats.org/officeDocument/2006/relationships/slide" Target="../slides/slide31.xml" /></ns0:Relationships>
</file>

<file path=ppt/notesSlides/_rels/notesSlide32.xml.rels><?xml version='1.0' encoding='utf-8'?>
<ns0:Relationships xmlns:ns0="http://schemas.openxmlformats.org/package/2006/relationships"><ns0:Relationship Id="rId1" Type="http://schemas.openxmlformats.org/officeDocument/2006/relationships/slide" Target="../slides/slide32.xml" /></ns0:Relationships>
</file>

<file path=ppt/notesSlides/_rels/notesSlide33.xml.rels><?xml version='1.0' encoding='utf-8'?>
<ns0:Relationships xmlns:ns0="http://schemas.openxmlformats.org/package/2006/relationships"><ns0:Relationship Id="rId1" Type="http://schemas.openxmlformats.org/officeDocument/2006/relationships/slide" Target="../slides/slide33.xml" /></ns0:Relationships>
</file>

<file path=ppt/notesSlides/_rels/notesSlide34.xml.rels><?xml version='1.0' encoding='utf-8'?>
<ns0:Relationships xmlns:ns0="http://schemas.openxmlformats.org/package/2006/relationships"><ns0:Relationship Id="rId1" Type="http://schemas.openxmlformats.org/officeDocument/2006/relationships/slide" Target="../slides/slide34.xml" /></ns0:Relationships>
</file>

<file path=ppt/notesSlides/_rels/notesSlide35.xml.rels><?xml version='1.0' encoding='utf-8'?>
<ns0:Relationships xmlns:ns0="http://schemas.openxmlformats.org/package/2006/relationships"><ns0:Relationship Id="rId1" Type="http://schemas.openxmlformats.org/officeDocument/2006/relationships/slide" Target="../slides/slide35.xml" /></ns0:Relationships>
</file>

<file path=ppt/notesSlides/_rels/notesSlide36.xml.rels><?xml version='1.0' encoding='utf-8'?>
<ns0:Relationships xmlns:ns0="http://schemas.openxmlformats.org/package/2006/relationships"><ns0:Relationship Id="rId1" Type="http://schemas.openxmlformats.org/officeDocument/2006/relationships/slide" Target="../slides/slide36.xml" /></ns0:Relationships>
</file>

<file path=ppt/notesSlides/_rels/notesSlide37.xml.rels><?xml version='1.0' encoding='utf-8'?>
<ns0:Relationships xmlns:ns0="http://schemas.openxmlformats.org/package/2006/relationships"><ns0:Relationship Id="rId1" Type="http://schemas.openxmlformats.org/officeDocument/2006/relationships/slide" Target="../slides/slide37.xml" /></ns0:Relationships>
</file>

<file path=ppt/notesSlides/_rels/notesSlide38.xml.rels><?xml version='1.0' encoding='utf-8'?>
<ns0:Relationships xmlns:ns0="http://schemas.openxmlformats.org/package/2006/relationships"><ns0:Relationship Id="rId1" Type="http://schemas.openxmlformats.org/officeDocument/2006/relationships/slide" Target="../slides/slide38.xml" /></ns0:Relationships>
</file>

<file path=ppt/notesSlides/_rels/notesSlide39.xml.rels><?xml version='1.0' encoding='utf-8'?>
<ns0:Relationships xmlns:ns0="http://schemas.openxmlformats.org/package/2006/relationships"><ns0:Relationship Id="rId1" Type="http://schemas.openxmlformats.org/officeDocument/2006/relationships/slide" Target="../slides/slide39.xml" /></ns0:Relationships>
</file>

<file path=ppt/notesSlides/_rels/notesSlide40.xml.rels><?xml version='1.0' encoding='utf-8'?>
<ns0:Relationships xmlns:ns0="http://schemas.openxmlformats.org/package/2006/relationships"><ns0:Relationship Id="rId1" Type="http://schemas.openxmlformats.org/officeDocument/2006/relationships/slide" Target="../slides/slide40.xml" /></ns0:Relationships>
</file>

<file path=ppt/notesSlides/_rels/notesSlide41.xml.rels><?xml version='1.0' encoding='utf-8'?>
<ns0:Relationships xmlns:ns0="http://schemas.openxmlformats.org/package/2006/relationships"><ns0:Relationship Id="rId1" Type="http://schemas.openxmlformats.org/officeDocument/2006/relationships/slide" Target="../slides/slide41.xml" /></ns0:Relationships>
</file>

<file path=ppt/notesSlides/_rels/notesSlide42.xml.rels><?xml version='1.0' encoding='utf-8'?>
<ns0:Relationships xmlns:ns0="http://schemas.openxmlformats.org/package/2006/relationships"><ns0:Relationship Id="rId1" Type="http://schemas.openxmlformats.org/officeDocument/2006/relationships/slide" Target="../slides/slide42.xml" /></ns0:Relationships>
</file>

<file path=ppt/notesSlides/_rels/notesSlide43.xml.rels><?xml version='1.0' encoding='utf-8'?>
<ns0:Relationships xmlns:ns0="http://schemas.openxmlformats.org/package/2006/relationships"><ns0:Relationship Id="rId1" Type="http://schemas.openxmlformats.org/officeDocument/2006/relationships/slide" Target="../slides/slide43.xml" /></ns0:Relationships>
</file>

<file path=ppt/notesSlides/_rels/notesSlide44.xml.rels><?xml version='1.0' encoding='utf-8'?>
<ns0:Relationships xmlns:ns0="http://schemas.openxmlformats.org/package/2006/relationships"><ns0:Relationship Id="rId1" Type="http://schemas.openxmlformats.org/officeDocument/2006/relationships/slide" Target="../slides/slide44.xml" /></ns0:Relationships>
</file>

<file path=ppt/notesSlides/_rels/notesSlide45.xml.rels><?xml version='1.0' encoding='utf-8'?>
<ns0:Relationships xmlns:ns0="http://schemas.openxmlformats.org/package/2006/relationships"><ns0:Relationship Id="rId1" Type="http://schemas.openxmlformats.org/officeDocument/2006/relationships/slide" Target="../slides/slide45.xml" /></ns0:Relationships>
</file>

<file path=ppt/notesSlides/_rels/notesSlide46.xml.rels><?xml version='1.0' encoding='utf-8'?>
<ns0:Relationships xmlns:ns0="http://schemas.openxmlformats.org/package/2006/relationships"><ns0:Relationship Id="rId1" Type="http://schemas.openxmlformats.org/officeDocument/2006/relationships/slide" Target="../slides/slide46.xml" /></ns0:Relationships>
</file>

<file path=ppt/notesSlides/_rels/notesSlide47.xml.rels><?xml version='1.0' encoding='utf-8'?>
<ns0:Relationships xmlns:ns0="http://schemas.openxmlformats.org/package/2006/relationships"><ns0:Relationship Id="rId1" Type="http://schemas.openxmlformats.org/officeDocument/2006/relationships/slide" Target="../slides/slide47.xml" /></ns0:Relationships>
</file>

<file path=ppt/notesSlides/_rels/notesSlide48.xml.rels><?xml version='1.0' encoding='utf-8'?>
<ns0:Relationships xmlns:ns0="http://schemas.openxmlformats.org/package/2006/relationships"><ns0:Relationship Id="rId1" Type="http://schemas.openxmlformats.org/officeDocument/2006/relationships/slide" Target="../slides/slide48.xml" /></ns0:Relationships>
</file>

<file path=ppt/notesSlides/_rels/notesSlide49.xml.rels><?xml version='1.0' encoding='utf-8'?>
<ns0:Relationships xmlns:ns0="http://schemas.openxmlformats.org/package/2006/relationships"><ns0:Relationship Id="rId1" Type="http://schemas.openxmlformats.org/officeDocument/2006/relationships/slide" Target="../slides/slide49.xml" /></ns0:Relationships>
</file>

<file path=ppt/notesSlides/_rels/notesSlide50.xml.rels><?xml version='1.0' encoding='utf-8'?>
<ns0:Relationships xmlns:ns0="http://schemas.openxmlformats.org/package/2006/relationships"><ns0:Relationship Id="rId1" Type="http://schemas.openxmlformats.org/officeDocument/2006/relationships/slide" Target="../slides/slide50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IBM Applied Data Science Capstone. Original IBM template imagery retained. Historical course datasets, not a statement about current launch prices.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SpaceX-Machine-Learning-Prediction-Part-5-v1.ipynb; ml_outputs/course_model_comparison.csv; ml_outputs/fold_scaled_model_comparison.csv; ml_outputs/course_test_predictions.csv</a:t>
            </a:r>
          </a:p>
          <a:p>
            <a:r>
              <a:t/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labs-jupyter-spacex-Data wrangling-v2.ipynb; dataset_part_2.csv</a:t>
            </a:r>
          </a:p>
          <a:p>
            <a:r>
              <a:t/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Original IBM Skills Network template section artwork retained.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jupyter-labs-spacex-data-collection-api-v2.ipynb; dataset_part_1.csv; data/spacex_lab_metadata.json</a:t>
            </a:r>
          </a:p>
          <a:p>
            <a:r>
              <a:t>Source paths: data/API_call_spacex_api.json; spacex_web_scraped.csv; data/Spacex.csv; data/spacex_launch_geo.csv; data/spacex_launch_dash.csv.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jupyter-labs-spacex-data-collection-api-v2.ipynb; dataset_part_1.csv; data/spacex_lab_metadata.json</a:t>
            </a:r>
          </a:p>
          <a:p>
            <a:r>
              <a:t>Live API retrieval timed out. No fabricated enrichment values were used. Resource-level provenance is retained in data/spacex_lab_metadata.json.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jupyter-labs-webscraping.ipynb; spacex_web_scraped.csv; https://en.wikipedia.org/wiki/Special:PermanentLink/1027686922</a:t>
            </a:r>
          </a:p>
          <a:p>
            <a:r>
              <a:t/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labs-jupyter-spacex-Data wrangling-v2.ipynb; dataset_part_2.csv</a:t>
            </a:r>
          </a:p>
          <a:p>
            <a:r>
              <a:t/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/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lab-jupyter-launch-site-location-v2.ipynb; location_outputs/; data/spacex_launch_geo.csv; data/launch_site_osm_features.json; https://www.openstreetmap.org/copyright</a:t>
            </a:r>
          </a:p>
          <a:p>
            <a:r>
              <a:t/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spacex_dash_app.py; data/spacex_launch_dash.csv; DASHBOARD_INSIGHTS.txt</a:t>
            </a:r>
          </a:p>
          <a:p>
            <a:r>
              <a:t/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SpaceX-Machine-Learning-Prediction-Part-5-v1.ipynb; ml_outputs/course_model_comparison.csv; ml_outputs/fold_scaled_model_comparison.csv; ml_outputs/course_test_predictions.csv</a:t>
            </a:r>
          </a:p>
          <a:p>
            <a:r>
              <a:t>Hyperparameter grids and exact split indices are in the notebook and ml_outputs/run_summary.json. Upstream imputation and category generation still precede the split.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Original IBM Skills Network template section artwork retained.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jupyter-labs-eda-dataviz-v2.ipynb; dataset_part_2.csv; dataviz_outputs/</a:t>
            </a:r>
          </a:p>
          <a:p>
            <a:r>
              <a:t/>
            </a: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DISTINCT Launch_Site</a:t>
            </a:r>
          </a:p>
          <a:p>
            <a:r>
              <a:t>FROM SPACEXTABLE ORDER BY Launch_Site;</a:t>
            </a:r>
          </a:p>
          <a:p>
            <a:r>
              <a:t>Four labels appear in the SQL source. This spelling differs from the 90-row API-derived sample.</a:t>
            </a: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Date, Booster_Version, Launch_Site</a:t>
            </a:r>
          </a:p>
          <a:p>
            <a:r>
              <a:t>FROM SPACEXTABLE WHERE Launch_Site LIKE 'CCA%'</a:t>
            </a:r>
          </a:p>
          <a:p>
            <a:r>
              <a:t>ORDER BY Date, "Time (UTC)" LIMIT 5;</a:t>
            </a:r>
          </a:p>
          <a:p>
            <a:r>
              <a:t>An explicit chronological order makes LIMIT 5 reproducible.</a:t>
            </a: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SUM(PAYLOAD_MASS__KG_) AS Total_Payload_Mass_KG</a:t>
            </a:r>
          </a:p>
          <a:p>
            <a:r>
              <a:t>FROM SPACEXTABLE WHERE Customer = 'NASA (CRS)';</a:t>
            </a:r>
          </a:p>
          <a:p>
            <a:r>
              <a:t>This total covers the NASA (CRS) category only. It does not combine other NASA customer labels.</a:t>
            </a: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AVG(PAYLOAD_MASS__KG_) AS Average_Payload_Mass_KG</a:t>
            </a:r>
          </a:p>
          <a:p>
            <a:r>
              <a:t>FROM SPACEXTABLE WHERE Booster_Version = 'F9 v1.1';</a:t>
            </a:r>
          </a:p>
          <a:p>
            <a:r>
              <a:t>Serial-number variants are separate strings and do not match this exact filter.</a:t>
            </a: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MIN(Date) AS First_Successful_Ground_Pad_Landing</a:t>
            </a:r>
          </a:p>
          <a:p>
            <a:r>
              <a:t>FROM SPACEXTABLE</a:t>
            </a:r>
          </a:p>
          <a:p>
            <a:r>
              <a:t>WHERE Landing_Outcome = 'Success (ground pad)';</a:t>
            </a:r>
          </a:p>
          <a:p>
            <a:r>
              <a:t>The result follows the SQL dataset's date field.</a:t>
            </a: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DISTINCT Booster_Version FROM SPACEXTABLE</a:t>
            </a:r>
          </a:p>
          <a:p>
            <a:r>
              <a:t>WHERE Landing_Outcome = 'Success (drone ship)'</a:t>
            </a:r>
          </a:p>
          <a:p>
            <a:r>
              <a:t>AND PAYLOAD_MASS__KG_ &gt; 4000 AND PAYLOAD_MASS__KG_ &lt; 6000;</a:t>
            </a:r>
          </a:p>
          <a:p>
            <a:r>
              <a:t>Strict bounds exclude payloads equal to 4,000 or 6,000 kg.</a:t>
            </a: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CASE WHEN Mission_Outcome LIKE 'Success%' THEN 'Success'</a:t>
            </a:r>
          </a:p>
          <a:p>
            <a:r>
              <a:t>WHEN Mission_Outcome LIKE 'Failure%' THEN 'Failure' END AS Result,</a:t>
            </a:r>
          </a:p>
          <a:p>
            <a:r>
              <a:t>COUNT(*) FROM SPACEXTABLE GROUP BY Result;</a:t>
            </a:r>
          </a:p>
          <a:p>
            <a:r>
              <a:t>Mission success concerns the mission objective. Booster landing outcomes are a different field.</a:t>
            </a: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Rows are displayed in two columns for compactness. All 12 result records are included.</a:t>
            </a: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>SQL query:</a:t>
            </a:r>
          </a:p>
          <a:p>
            <a:r>
              <a:t>SELECT Date, Booster_Version, Launch_Site FROM SPACEXTABLE</a:t>
            </a:r>
          </a:p>
          <a:p>
            <a:r>
              <a:t>WHERE SUBSTR(Date, 1, 4) = '2015'</a:t>
            </a:r>
          </a:p>
          <a:p>
            <a:r>
              <a:t>AND Landing_Outcome = 'Failure (drone ship)' ORDER BY Date;</a:t>
            </a:r>
          </a:p>
          <a:p>
            <a:r>
              <a:t>Both records have Landing_Outcome = Failure (drone ship).</a:t>
            </a: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jupyter-labs-eda-sql-coursera_sqllite.ipynb; my_data1.db, SPACEXTABLE; data/Spacex.csv</a:t>
            </a:r>
          </a:p>
          <a:p>
            <a:r>
              <a:t/>
            </a: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Original IBM Skills Network template section artwork retained.</a:t>
            </a: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lab-jupyter-launch-site-location-v2.ipynb; location_outputs/; data/spacex_launch_geo.csv; data/launch_site_osm_features.json; https://www.openstreetmap.org/copyright</a:t>
            </a:r>
          </a:p>
          <a:p>
            <a:r>
              <a:t/>
            </a: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lab-jupyter-launch-site-location-v2.ipynb; location_outputs/; data/spacex_launch_geo.csv; data/launch_site_osm_features.json; https://www.openstreetmap.org/copyright</a:t>
            </a:r>
          </a:p>
          <a:p>
            <a:r>
              <a:t>Counts from location_outputs/launch_site_summary.csv. This slide reports the map's underlying records as an editable table.</a:t>
            </a: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lab-jupyter-launch-site-location-v2.ipynb; location_outputs/; data/spacex_launch_geo.csv; data/launch_site_osm_features.json; https://www.openstreetmap.org/copyright</a:t>
            </a:r>
          </a:p>
          <a:p>
            <a:r>
              <a:t/>
            </a: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Original IBM Skills Network template section artwork retained.</a:t>
            </a: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spacex_dash_app.py; data/spacex_launch_dash.csv; DASHBOARD_INSIGHTS.txt</a:t>
            </a:r>
          </a:p>
          <a:p>
            <a:r>
              <a:t/>
            </a: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spacex_dash_app.py; data/spacex_launch_dash.csv; DASHBOARD_INSIGHTS.txt</a:t>
            </a:r>
          </a:p>
          <a:p>
            <a:r>
              <a:t/>
            </a: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spacex_dash_app.py; data/spacex_launch_dash.csv; DASHBOARD_INSIGHTS.txt</a:t>
            </a:r>
          </a:p>
          <a:p>
            <a:r>
              <a:t>The charts are exported directly from dashboard callbacks. Left: ALL sites, 0-10,000 kg. Right: ALL sites, 3,000-4,000 kg, inclusive. Bin endpoints differ from the dashboard's inclusive slider endpoints. See DASHBOARD_INSIGHTS.txt for the complete bin table.</a:t>
            </a: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Original IBM Skills Network template section artwork retained.</a:t>
            </a: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SpaceX-Machine-Learning-Prediction-Part-5-v1.ipynb; ml_outputs/course_model_comparison.csv; ml_outputs/fold_scaled_model_comparison.csv; ml_outputs/course_test_predictions.csv</a:t>
            </a:r>
          </a:p>
          <a:p>
            <a:r>
              <a:t/>
            </a: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SpaceX-Machine-Learning-Prediction-Part-5-v1.ipynb; ml_outputs/course_model_comparison.csv; ml_outputs/fold_scaled_model_comparison.csv; ml_outputs/course_test_predictions.csv</a:t>
            </a:r>
          </a:p>
          <a:p>
            <a:r>
              <a:t/>
            </a: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SpaceX-Machine-Learning-Prediction-Part-5-v1.ipynb; ml_outputs/course_model_comparison.csv; ml_outputs/fold_scaled_model_comparison.csv; ml_outputs/course_test_predictions.csv</a:t>
            </a:r>
          </a:p>
          <a:p>
            <a:r>
              <a:t/>
            </a: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Original IBM Skills Network template section artwork retained.</a:t>
            </a: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SpaceX-Machine-Learning-Prediction-Part-5-v1.ipynb; ml_outputs/course_model_comparison.csv; ml_outputs/fold_scaled_model_comparison.csv; ml_outputs/course_test_predictions.csv</a:t>
            </a:r>
          </a:p>
          <a:p>
            <a:r>
              <a:t>Wilson interval uses 15 successes / 18 trials, z=1.96. This binomial interval does not account for model selection, temporal dependence or upstream preprocessing.</a:t>
            </a: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Project repository supplied by the author: https://github.com/VavanZaa/IBM-Capstone. The artifact table lists the local project locations.</a:t>
            </a: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Dataset base: https://cf-courses-data.s3.us.cloud-object-storage.appdomain.cloud/IBM-DS0321EN-SkillsNetwork/</a:t>
            </a:r>
          </a:p>
          <a:p>
            <a:r>
              <a:t>API snapshot: datasets/API_call_spacex_api.json</a:t>
            </a:r>
          </a:p>
          <a:p>
            <a:r>
              <a:t>SQL: labs/module_2/data/Spacex.csv</a:t>
            </a:r>
          </a:p>
          <a:p>
            <a:r>
              <a:t>Geo: datasets/spacex_launch_geo.csv</a:t>
            </a:r>
          </a:p>
          <a:p>
            <a:r>
              <a:t>Dashboard: datasets/spacex_launch_dash.csv</a:t>
            </a:r>
          </a:p>
          <a:p>
            <a:r>
              <a:t>Wikipedia: https://en.wikipedia.org/wiki/Special:PermanentLink/1027686922</a:t>
            </a:r>
          </a:p>
          <a:p>
            <a:r>
              <a:t>OpenStreetMap: https://www.openstreetmap.org/copyright</a:t>
            </a:r>
          </a:p>
          <a:p>
            <a:r>
              <a:t>scikit-learn: https://scikit-learn.org/1.6/common_pitfalls.html#data-leakage</a:t>
            </a:r>
          </a:p>
          <a:p>
            <a:r>
              <a:t>Dash: https://dash.plotly.com/basic-callbacks</a:t>
            </a:r>
          </a:p>
          <a:p>
            <a:r>
              <a:t>Folium: https://python-visualization.github.io/folium/</a:t>
            </a:r>
          </a:p>
          <a:p>
            <a:r>
              <a:t>All numerical findings derive from local executed notebooks and associated CSV exports.</a:t>
            </a:r>
          </a:p>
          <a:p>
            <a:r>
              <a:t>Template and template imagery: supplied IBM Skills Network ds-capstone-template-coursera.pptx.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image" Target="../media/image1.jpeg" /><ns0:Relationship Id="rId1" Type="http://schemas.openxmlformats.org/officeDocument/2006/relationships/slideLayout" Target="../slideLayouts/slideLayout12.xml" /><ns0:Relationship Id="rIdNotes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image" Target="../media/image4.jpeg" /><ns0:Relationship Id="rId1" Type="http://schemas.openxmlformats.org/officeDocument/2006/relationships/slideLayout" Target="../slideLayouts/slideLayout3.xml" /><ns0:Relationship Id="rIdNotes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0.xml" /></ns0:Relationships>
</file>

<file path=ppt/slides/_rels/slide11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2.xml" /></ns0:Relationships>
</file>

<file path=ppt/slides/_rels/slide13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3.xml" /></ns0:Relationships>
</file>

<file path=ppt/slides/_rels/slide14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4.xml" /></ns0:Relationships>
</file>

<file path=ppt/slides/_rels/slide15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5.xml" /></ns0:Relationships>
</file>

<file path=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6.xml" /></ns0:Relationships>
</file>

<file path=ppt/slides/_rels/slide17.xml.rels><?xml version='1.0' encoding='utf-8'?>
<ns0:Relationships xmlns:ns0="http://schemas.openxmlformats.org/package/2006/relationships"><ns0:Relationship Id="rId2" Type="http://schemas.openxmlformats.org/officeDocument/2006/relationships/image" Target="../media/image5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17.xml" /></ns0:Relationships>
</file>

<file path=ppt/slides/_rels/slide18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18_104.png" /><ns0:Relationship Id="rIdNotes" Type="http://schemas.openxmlformats.org/officeDocument/2006/relationships/notesSlide" Target="../notesSlides/notesSlide18.xml" /></ns0:Relationships>
</file>

<file path=ppt/slides/_rels/slide19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19_104.png" /><ns0:Relationship Id="rIdNotes" Type="http://schemas.openxmlformats.org/officeDocument/2006/relationships/notesSlide" Target="../notesSlides/notesSlide19.xml" /></ns0:Relationships>
</file>

<file path=ppt/slides/_rels/slide20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20_104.png" /><ns0:Relationship Id="rIdNotes" Type="http://schemas.openxmlformats.org/officeDocument/2006/relationships/notesSlide" Target="../notesSlides/notesSlide20.xml" /></ns0:Relationships>
</file>

<file path=ppt/slides/_rels/slide21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21_104.png" /><ns0:Relationship Id="rIdNotes" Type="http://schemas.openxmlformats.org/officeDocument/2006/relationships/notesSlide" Target="../notesSlides/notesSlide21.xml" /></ns0:Relationships>
</file>

<file path=ppt/slides/_rels/slide22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22_104.png" /><ns0:Relationship Id="rIdNotes" Type="http://schemas.openxmlformats.org/officeDocument/2006/relationships/notesSlide" Target="../notesSlides/notesSlide22.xml" /></ns0:Relationships>
</file>

<file path=ppt/slides/_rels/slide23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23_104.png" /><ns0:Relationship Id="rIdNotes" Type="http://schemas.openxmlformats.org/officeDocument/2006/relationships/notesSlide" Target="../notesSlides/notesSlide23.xml" /></ns0:Relationships>
</file>

<file path=ppt/slides/_rels/slide24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4.xml" /></ns0:Relationships>
</file>

<file path=ppt/slides/_rels/slide25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5.xml" /></ns0:Relationships>
</file>

<file path=ppt/slides/_rels/slide26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6.xml" /></ns0:Relationships>
</file>

<file path=ppt/slides/_rels/slide27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7.xml" /></ns0:Relationships>
</file>

<file path=ppt/slides/_rels/slide28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8.xml" /></ns0:Relationships>
</file>

<file path=ppt/slides/_rels/slide29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29.xml" /></ns0:Relationships>
</file>

<file path=ppt/slides/_rels/slide30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0.xml" /></ns0:Relationships>
</file>

<file path=ppt/slides/_rels/slide31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1.xml" /></ns0:Relationships>
</file>

<file path=ppt/slides/_rels/slide32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2.xml" /></ns0:Relationships>
</file>

<file path=ppt/slides/_rels/slide33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3.xml" /></ns0:Relationships>
</file>

<file path=ppt/slides/_rels/slide34.xml.rels><?xml version='1.0' encoding='utf-8'?>
<ns0:Relationships xmlns:ns0="http://schemas.openxmlformats.org/package/2006/relationships"><ns0:Relationship Id="rId2" Type="http://schemas.openxmlformats.org/officeDocument/2006/relationships/image" Target="../media/image6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4.xml" /></ns0:Relationships>
</file>

<file path=ppt/slides/_rels/slide35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35_104.png" /><ns0:Relationship Id="rIdNotes" Type="http://schemas.openxmlformats.org/officeDocument/2006/relationships/notesSlide" Target="../notesSlides/notesSlide35.xml" /></ns0:Relationships>
</file>

<file path=ppt/slides/_rels/slide36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6.xml" /></ns0:Relationships>
</file>

<file path=ppt/slides/_rels/slide37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37_104.png" /><ns0:Relationship Id="rIdNotes" Type="http://schemas.openxmlformats.org/officeDocument/2006/relationships/notesSlide" Target="../notesSlides/notesSlide37.xml" /></ns0:Relationships>
</file>

<file path=ppt/slides/_rels/slide38.xml.rels><?xml version='1.0' encoding='utf-8'?>
<ns0:Relationships xmlns:ns0="http://schemas.openxmlformats.org/package/2006/relationships"><ns0:Relationship Id="rId2" Type="http://schemas.openxmlformats.org/officeDocument/2006/relationships/image" Target="../media/image7.jpe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38.xml" /></ns0:Relationships>
</file>

<file path=ppt/slides/_rels/slide39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39_104.png" /><ns0:Relationship Id="rIdNotes" Type="http://schemas.openxmlformats.org/officeDocument/2006/relationships/notesSlide" Target="../notesSlides/notesSlide39.xml" /></ns0:Relationships>
</file>

<file path=ppt/slides/_rels/slide40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40_104.png" /><ns0:Relationship Id="rIdNotes" Type="http://schemas.openxmlformats.org/officeDocument/2006/relationships/notesSlide" Target="../notesSlides/notesSlide40.xml" /></ns0:Relationships>
</file>

<file path=ppt/slides/_rels/slide41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41_104.png" /><ns0:Relationship Id="rIdAsset105" Type="http://schemas.openxmlformats.org/officeDocument/2006/relationships/image" Target="../media/presentation_41_105.png" /><ns0:Relationship Id="rIdNotes" Type="http://schemas.openxmlformats.org/officeDocument/2006/relationships/notesSlide" Target="../notesSlides/notesSlide41.xml" /></ns0:Relationships>
</file>

<file path=ppt/slides/_rels/slide42.xml.rels><?xml version='1.0' encoding='utf-8'?>
<ns0:Relationships xmlns:ns0="http://schemas.openxmlformats.org/package/2006/relationships"><ns0:Relationship Id="rId2" Type="http://schemas.openxmlformats.org/officeDocument/2006/relationships/image" Target="../media/image8.jpe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42.xml" /></ns0:Relationships>
</file>

<file path=ppt/slides/_rels/slide43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43_104.png" /><ns0:Relationship Id="rIdNotes" Type="http://schemas.openxmlformats.org/officeDocument/2006/relationships/notesSlide" Target="../notesSlides/notesSlide43.xml" /></ns0:Relationships>
</file>

<file path=ppt/slides/_rels/slide44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Asset104" Type="http://schemas.openxmlformats.org/officeDocument/2006/relationships/image" Target="../media/presentation_44_104.png" /><ns0:Relationship Id="rIdNotes" Type="http://schemas.openxmlformats.org/officeDocument/2006/relationships/notesSlide" Target="../notesSlides/notesSlide44.xml" /></ns0:Relationships>
</file>

<file path=ppt/slides/_rels/slide45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45.xml" /></ns0:Relationships>
</file>

<file path=ppt/slides/_rels/slide46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46.xml" /></ns0:Relationships>
</file>

<file path=ppt/slides/_rels/slide47.xml.rels><?xml version='1.0' encoding='utf-8'?>
<ns0:Relationships xmlns:ns0="http://schemas.openxmlformats.org/package/2006/relationships"><ns0:Relationship Id="rId2" Type="http://schemas.openxmlformats.org/officeDocument/2006/relationships/image" Target="../media/image9.jpeg" /><ns0:Relationship Id="rId1" Type="http://schemas.openxmlformats.org/officeDocument/2006/relationships/slideLayout" Target="../slideLayouts/slideLayout13.xml" /><ns0:Relationship Id="rIdNotes" Type="http://schemas.openxmlformats.org/officeDocument/2006/relationships/notesSlide" Target="../notesSlides/notesSlide47.xml" /></ns0:Relationships>
</file>

<file path=ppt/slides/_rels/slide48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48.xml" /></ns0:Relationships>
</file>

<file path=ppt/slides/_rels/slide49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Link104" Type="http://schemas.openxmlformats.org/officeDocument/2006/relationships/hyperlink" Target="https://github.com/VavanZaa/IBM-Capstone" TargetMode="External" /><ns0:Relationship Id="rIdNotes" Type="http://schemas.openxmlformats.org/officeDocument/2006/relationships/notesSlide" Target="../notesSlides/notesSlide49.xml" /></ns0:Relationships>
</file>

<file path=ppt/slides/_rels/slide50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1.xml" /><ns0:Relationship Id="rIdNotes" Type="http://schemas.openxmlformats.org/officeDocument/2006/relationships/notesSlide" Target="../notesSlides/notesSlide50.xml" /></ns0: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BM Skills Network Logo - Horizontal-noai copy.png">
            <a:extLst>
              <a:ext uri="{FF2B5EF4-FFF2-40B4-BE49-F238E27FC236}">
                <ns3:creationId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  <p:sp>
        <p:nvSpPr>
          <p:cNvPr id="101" name="Text 101"/>
          <p:cNvSpPr txBox="1"/>
          <p:nvPr/>
        </p:nvSpPr>
        <p:spPr>
          <a:xfrm>
            <a:off x="977900" y="4673600"/>
            <a:ext cx="4826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FFFFFF"/>
                </a:solidFill>
                <a:latin typeface="Abadi"/>
              </a:rPr>
              <a:t>Vavan Farizzaman</a:t>
            </a:r>
            <a:endParaRPr lang="en-US" sz="20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FFFFFF"/>
                </a:solidFill>
                <a:latin typeface="Abadi"/>
              </a:rPr>
              <a:t>20 October 2026</a:t>
            </a:r>
            <a:endParaRPr lang="en-US" sz="2000"/>
          </a:p>
        </p:txBody>
      </p:sp>
    </p:spTree>
    <p:extLst>
      <p:ext uri="{BB962C8B-B14F-4D97-AF65-F5344CB8AC3E}">
        <ns4:creationId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Outline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63600" y="1714500"/>
            <a:ext cx="104140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Project question and executive summary</a:t>
            </a:r>
            <a:endParaRPr lang="en-US" sz="2100"/>
          </a:p>
        </p:txBody>
      </p:sp>
      <p:sp>
        <p:nvSpPr>
          <p:cNvPr id="104" name="Text 104"/>
          <p:cNvSpPr txBox="1"/>
          <p:nvPr/>
        </p:nvSpPr>
        <p:spPr>
          <a:xfrm>
            <a:off x="863600" y="2501900"/>
            <a:ext cx="104140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Data collection, preparation and analytical methods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3289300"/>
            <a:ext cx="104140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Visualization and SQL findings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4076700"/>
            <a:ext cx="104140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Folium maps and the Plotly Dash dashboard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864100"/>
            <a:ext cx="104140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Classification results, conclusions and technical appendix</a:t>
            </a:r>
            <a:endParaRPr lang="en-US" sz="2100"/>
          </a:p>
        </p:txBody>
      </p:sp>
    </p:spTree>
    <p:extLst>
      <p:ext uri="{BB962C8B-B14F-4D97-AF65-F5344CB8AC3E}">
        <ns3:creationId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Executive Summary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ML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714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90 Falcon 9 launches support the main analysis. The course label marks 60 successful outcomes (66.7%).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2730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Collection combines an API snapshot with documented enrichment. Scraping and the SQL/dashboard labs use separate datasets.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3746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KSC LC-39A leads the dashboard sample: 10 successes from 13 launches (76.9%).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762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SVM, logistic regression and KNN each classify 15 of 18 test launches correctly. Training CV selects SVM.</a:t>
            </a:r>
            <a:endParaRPr lang="en-US" sz="2100"/>
          </a:p>
        </p:txBody>
      </p:sp>
    </p:spTree>
    <p:extLst>
      <p:ext uri="{BB962C8B-B14F-4D97-AF65-F5344CB8AC3E}">
        <ns3:creationId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Introduction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Wrangling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714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Business context: first-stage recovery can support reuse and influence launch economics.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2730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Question: which observed launch characteristics are associated with successful first-stage outcomes?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3746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Approach: inspect payload, orbit, launch site and time, then compare four binary classifiers.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762500"/>
            <a:ext cx="1041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Scope: a historical learning exercise. Landing classification alone does not estimate launch cost or guarantee future recovery.</a:t>
            </a:r>
            <a:endParaRPr lang="en-US" sz="2100"/>
          </a:p>
        </p:txBody>
      </p:sp>
    </p:spTree>
    <p:extLst>
      <p:ext uri="{BB962C8B-B14F-4D97-AF65-F5344CB8AC3E}">
        <ns3:creationId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11430000" y="64135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badi"/>
              </a:rPr>
              <a:t>5</a:t>
            </a:r>
            <a:endParaRPr lang="en-US" sz="1000"/>
          </a:p>
        </p:txBody>
      </p:sp>
    </p:spTree>
    <p:extLst>
      <p:ext uri="{BB962C8B-B14F-4D97-AF65-F5344CB8AC3E}">
        <ns3:creationId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Methodology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6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63600" y="17145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1. Collect and reconcile launch data, resource IDs and source provenance.</a:t>
            </a:r>
            <a:endParaRPr lang="en-US" sz="2000"/>
          </a:p>
        </p:txBody>
      </p:sp>
      <p:sp>
        <p:nvSpPr>
          <p:cNvPr id="104" name="Text 104"/>
          <p:cNvSpPr txBox="1"/>
          <p:nvPr/>
        </p:nvSpPr>
        <p:spPr>
          <a:xfrm>
            <a:off x="863600" y="25146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2. Clean fields, label outcomes and encode 80 numerical features.</a:t>
            </a:r>
            <a:endParaRPr lang="en-US" sz="2000"/>
          </a:p>
        </p:txBody>
      </p:sp>
      <p:sp>
        <p:nvSpPr>
          <p:cNvPr id="105" name="Text 105"/>
          <p:cNvSpPr txBox="1"/>
          <p:nvPr/>
        </p:nvSpPr>
        <p:spPr>
          <a:xfrm>
            <a:off x="863600" y="33147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3. Explore patterns through Python charts, SQL queries and interactive maps.</a:t>
            </a:r>
            <a:endParaRPr lang="en-US" sz="2000"/>
          </a:p>
        </p:txBody>
      </p:sp>
      <p:sp>
        <p:nvSpPr>
          <p:cNvPr id="106" name="Text 106"/>
          <p:cNvSpPr txBox="1"/>
          <p:nvPr/>
        </p:nvSpPr>
        <p:spPr>
          <a:xfrm>
            <a:off x="863600" y="4114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4. Filter dashboard views by site and payload mass.</a:t>
            </a:r>
            <a:endParaRPr lang="en-US" sz="2000"/>
          </a:p>
        </p:txBody>
      </p:sp>
      <p:sp>
        <p:nvSpPr>
          <p:cNvPr id="107" name="Text 107"/>
          <p:cNvSpPr txBox="1"/>
          <p:nvPr/>
        </p:nvSpPr>
        <p:spPr>
          <a:xfrm>
            <a:off x="863600" y="49149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5. Tune four classifiers with 10-fold CV and evaluate a fixed 18-row test sample.</a:t>
            </a:r>
            <a:endParaRPr lang="en-US" sz="2000"/>
          </a:p>
        </p:txBody>
      </p:sp>
    </p:spTree>
    <p:extLst>
      <p:ext uri="{BB962C8B-B14F-4D97-AF65-F5344CB8AC3E}">
        <ns3:creationId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Data Collection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7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API lab. Detailed references in speaker notes.</a:t>
            </a:r>
            <a:endParaRPr lang="en-US" sz="1000"/>
          </a:p>
        </p:txBody>
      </p:sp>
      <p:graphicFrame>
        <p:nvGraphicFramePr>
          <p:cNvPr id="104" name="Results table 7"/>
          <p:cNvGraphicFramePr/>
          <p:nvPr/>
        </p:nvGraphicFramePr>
        <p:xfrm>
          <a:off x="863600" y="1841500"/>
          <a:ext cx="10414000" cy="3238500"/>
        </p:xfrm>
        <a:graphic>
          <a:graphicData uri="http://schemas.openxmlformats.org/drawingml/2006/main/table">
            <a:tbl>
              <a:tblPr firstRow="1" bandRow="0"/>
              <a:tblGrid>
                <a:gridCol w="3957320"/>
                <a:gridCol w="1457960"/>
                <a:gridCol w="4998720"/>
              </a:tblGrid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Source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Records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Use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API-derived Falcon 9 sample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90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Wrangling, EDA and classification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Wikipedia historical revision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121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Independent scraping exercise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Course SQL dataset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101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SQL aggregation and filters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Course map/dashboard datasets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56 each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Interactive analytics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461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Different scopes and labels produce different totals. These datasets are not pooled.</a:t>
            </a:r>
            <a:endParaRPr lang="en-US" sz="2000"/>
          </a:p>
        </p:txBody>
      </p:sp>
    </p:spTree>
    <p:extLst>
      <p:ext uri="{BB962C8B-B14F-4D97-AF65-F5344CB8AC3E}">
        <ns3:creationId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Data Collection: SpaceX API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8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API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8415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900" b="0">
                <a:solidFill>
                  <a:srgbClr val="25354B"/>
                </a:solidFill>
                <a:latin typeface="Abadi"/>
              </a:rPr>
              <a:t>Launch JSON supplies resource IDs, not all enrichment fields.</a:t>
            </a:r>
            <a:endParaRPr lang="en-US" sz="1900"/>
          </a:p>
        </p:txBody>
      </p:sp>
      <p:sp>
        <p:nvSpPr>
          <p:cNvPr id="105" name="Text 105"/>
          <p:cNvSpPr txBox="1"/>
          <p:nvPr/>
        </p:nvSpPr>
        <p:spPr>
          <a:xfrm>
            <a:off x="863600" y="30734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900" b="0">
                <a:solidFill>
                  <a:srgbClr val="25354B"/>
                </a:solidFill>
                <a:latin typeface="Abadi"/>
              </a:rPr>
              <a:t>Archived API records and course reference data supply documented historical metadata.</a:t>
            </a:r>
            <a:endParaRPr lang="en-US" sz="1900"/>
          </a:p>
        </p:txBody>
      </p:sp>
      <p:sp>
        <p:nvSpPr>
          <p:cNvPr id="106" name="Text 106"/>
          <p:cNvSpPr txBox="1"/>
          <p:nvPr/>
        </p:nvSpPr>
        <p:spPr>
          <a:xfrm>
            <a:off x="863600" y="43053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900" b="0">
                <a:solidFill>
                  <a:srgbClr val="25354B"/>
                </a:solidFill>
                <a:latin typeface="Abadi"/>
              </a:rPr>
              <a:t>Timeouts and caching keep requests explicit and repeatable.</a:t>
            </a:r>
            <a:endParaRPr lang="en-US" sz="1900"/>
          </a:p>
        </p:txBody>
      </p:sp>
      <p:graphicFrame>
        <p:nvGraphicFramePr>
          <p:cNvPr id="107" name="Results table 8"/>
          <p:cNvGraphicFramePr/>
          <p:nvPr/>
        </p:nvGraphicFramePr>
        <p:xfrm>
          <a:off x="5588000" y="1778000"/>
          <a:ext cx="5715000" cy="3746500"/>
        </p:xfrm>
        <a:graphic>
          <a:graphicData uri="http://schemas.openxmlformats.org/drawingml/2006/main/table">
            <a:tbl>
              <a:tblPr firstRow="1" bandRow="0"/>
              <a:tblGrid>
                <a:gridCol w="2571750"/>
                <a:gridCol w="3143250"/>
              </a:tblGrid>
              <a:tr h="749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Step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Output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1. Read launch snapshot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94 retained launch rows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2. Resolve resource IDs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Rockets, payloads, cores, pads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3. Keep Falcon 9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90 rows, excluding 4 Falcon 1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4. Export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dataset_part_1.csv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Data Collection: Web Scraping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9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Scraping lab. Detailed references in speaker notes.</a:t>
            </a:r>
            <a:endParaRPr lang="en-US" sz="1000"/>
          </a:p>
        </p:txBody>
      </p:sp>
      <p:graphicFrame>
        <p:nvGraphicFramePr>
          <p:cNvPr id="104" name="Results table 9"/>
          <p:cNvGraphicFramePr/>
          <p:nvPr/>
        </p:nvGraphicFramePr>
        <p:xfrm>
          <a:off x="863600" y="1841500"/>
          <a:ext cx="10414000" cy="3492500"/>
        </p:xfrm>
        <a:graphic>
          <a:graphicData uri="http://schemas.openxmlformats.org/drawingml/2006/main/table">
            <a:tbl>
              <a:tblPr firstRow="1" bandRow="0"/>
              <a:tblGrid>
                <a:gridCol w="2603500"/>
                <a:gridCol w="7810500"/>
              </a:tblGrid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badi"/>
                        </a:rPr>
                        <a:t>Step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badi"/>
                        </a:rPr>
                        <a:t>Method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1. Retrieve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Read the 9 June 2021 Wikipedia revision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2. Parse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BeautifulSoup extracts Falcon 9 launch tables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3. Normalize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Clean dates, payloads, sites and outcomes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4. Filter and export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121 numeric-flight rows in spacex_web_scraped.csv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461000"/>
            <a:ext cx="10414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lab's numeric flight-number rule excludes Falcon Heavy rows labelled FH. Unknown payload masses remain missing.</a:t>
            </a:r>
            <a:endParaRPr lang="en-US" sz="1800"/>
          </a:p>
        </p:txBody>
      </p:sp>
    </p:spTree>
    <p:extLst>
      <p:ext uri="{BB962C8B-B14F-4D97-AF65-F5344CB8AC3E}">
        <ns3:creationId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Data Wrangling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10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Wrangling lab. Detailed references in speaker notes.</a:t>
            </a:r>
            <a:endParaRPr lang="en-US" sz="1000"/>
          </a:p>
        </p:txBody>
      </p:sp>
      <p:graphicFrame>
        <p:nvGraphicFramePr>
          <p:cNvPr id="104" name="Results table 10"/>
          <p:cNvGraphicFramePr/>
          <p:nvPr/>
        </p:nvGraphicFramePr>
        <p:xfrm>
          <a:off x="863600" y="1714500"/>
          <a:ext cx="10414000" cy="3556000"/>
        </p:xfrm>
        <a:graphic>
          <a:graphicData uri="http://schemas.openxmlformats.org/drawingml/2006/main/table">
            <a:tbl>
              <a:tblPr firstRow="1" bandRow="0"/>
              <a:tblGrid>
                <a:gridCol w="1770380"/>
                <a:gridCol w="8643620"/>
              </a:tblGrid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Stage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Implementation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Clean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Keep Falcon 9, normalize fields and impute missing payload mass with the mean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Label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Class 1: True ASDS, True RTLS or True Ocean. Other listed outcomes: class 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Check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90 launches: 60 class 1 and 30 class 0. True ASDS contributes 41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Encode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One-hot encode orbit, site, landing pad and serial. Produce 80 float64 features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4610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Outcome and Class are excluded from the feature matrix. Successful ocean outcomes remain included in the course target.</a:t>
            </a:r>
            <a:endParaRPr lang="en-US" sz="1800"/>
          </a:p>
        </p:txBody>
      </p:sp>
    </p:spTree>
    <p:extLst>
      <p:ext uri="{BB962C8B-B14F-4D97-AF65-F5344CB8AC3E}">
        <ns3:creationId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EDA with Data Visualization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11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graphicFrame>
        <p:nvGraphicFramePr>
          <p:cNvPr id="104" name="Results table 11"/>
          <p:cNvGraphicFramePr/>
          <p:nvPr/>
        </p:nvGraphicFramePr>
        <p:xfrm>
          <a:off x="863600" y="1841500"/>
          <a:ext cx="10414000" cy="3683000"/>
        </p:xfrm>
        <a:graphic>
          <a:graphicData uri="http://schemas.openxmlformats.org/drawingml/2006/main/table">
            <a:tbl>
              <a:tblPr firstRow="1" bandRow="0"/>
              <a:tblGrid>
                <a:gridCol w="4582160"/>
                <a:gridCol w="5831840"/>
              </a:tblGrid>
              <a:tr h="7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badi"/>
                        </a:rPr>
                        <a:t>Plot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badi"/>
                        </a:rPr>
                        <a:t>Analytical purpose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Flight number vs. site and orbit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Inspect historical progression and category coverage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Payload vs. site and orbit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Compare operating ranges and overlapping outcomes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Success rate by orbit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Compare outcome proportions with sample counts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Yearly average success rate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rgbClr val="25354B"/>
                          </a:solidFill>
                          <a:latin typeface="Abadi"/>
                        </a:rPr>
                        <a:t>Describe change over time without assuming causality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626100"/>
            <a:ext cx="10414000" cy="596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Color encodes Class. Counts accompany rates so small categories do not look as reliable as large samples.</a:t>
            </a:r>
            <a:endParaRPr lang="en-US" sz="1800"/>
          </a:p>
        </p:txBody>
      </p:sp>
    </p:spTree>
    <p:extLst>
      <p:ext uri="{BB962C8B-B14F-4D97-AF65-F5344CB8AC3E}">
        <ns3:creationId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EDA with SQL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12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7145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SQLite stores 101 rows in a cleaned SPACEXTABLE, with dates and labels trimmed.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27559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DISTINCT and LIKE identify sites. SUM and AVG aggregate payload mass.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37973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MIN and MAX locate milestones and payload extremes. A subquery retains all maximum-payload boosters.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8387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CASE separates mission outcomes. GROUP BY counts landing outcomes within an inclusive date window.</a:t>
            </a:r>
            <a:endParaRPr lang="en-US" sz="2100"/>
          </a:p>
        </p:txBody>
      </p:sp>
    </p:spTree>
    <p:extLst>
      <p:ext uri="{BB962C8B-B14F-4D97-AF65-F5344CB8AC3E}">
        <ns3:creationId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Interactive Map Methodology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13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Folium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7145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Folium markers and circles identify launch sites. Popups preserve site names and counts.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27559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Green/red markers show class 1/0. MarkerCluster groups overlapping launch coordinates.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37973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Mouse coordinates, click popups and distance lines support proximity inspection.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8387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OpenStreetMap features provide coastline, internal rail spur, major road and town-centre reference points.</a:t>
            </a:r>
            <a:endParaRPr lang="en-US" sz="2100"/>
          </a:p>
        </p:txBody>
      </p:sp>
    </p:spTree>
    <p:extLst>
      <p:ext uri="{BB962C8B-B14F-4D97-AF65-F5344CB8AC3E}">
        <ns3:creationId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Plotly Dash Methodology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14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Dash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7145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A searchable launch-site dropdown filters both charts.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27559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All Sites shows successful outcome counts by site. A selected site shows its success/failure split.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37973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A 0-10,000 kg range slider filters the scatter plot, including both endpoints.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8387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Scatter points use payload mass and class, with a consistent color for each booster category.</a:t>
            </a:r>
            <a:endParaRPr lang="en-US" sz="2100"/>
          </a:p>
        </p:txBody>
      </p:sp>
    </p:spTree>
    <p:extLst>
      <p:ext uri="{BB962C8B-B14F-4D97-AF65-F5344CB8AC3E}">
        <ns3:creationId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Predictive Analysis Methodology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15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ML lab. Detailed references in speaker notes.</a:t>
            </a:r>
            <a:endParaRPr lang="en-US" sz="1000"/>
          </a:p>
        </p:txBody>
      </p:sp>
      <p:graphicFrame>
        <p:nvGraphicFramePr>
          <p:cNvPr id="104" name="Results table 15"/>
          <p:cNvGraphicFramePr/>
          <p:nvPr/>
        </p:nvGraphicFramePr>
        <p:xfrm>
          <a:off x="863600" y="1714500"/>
          <a:ext cx="10414000" cy="3657600"/>
        </p:xfrm>
        <a:graphic>
          <a:graphicData uri="http://schemas.openxmlformats.org/drawingml/2006/main/table">
            <a:tbl>
              <a:tblPr firstRow="1" bandRow="0"/>
              <a:tblGrid>
                <a:gridCol w="2291080"/>
                <a:gridCol w="8122920"/>
              </a:tblGrid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Stage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Specification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Inputs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90 rows, 80 numerical features and binary Class labels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Holdout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72 train / 18 test. test_size=0.2, random_state=2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Models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Logistic regression, SVM, decision tree and KNN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Tuning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GridSearchCV, 10 folds, accuracy scoring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Scaling check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Repeat with StandardScaler inside each training-fold pipeline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613400"/>
            <a:ext cx="10414000" cy="596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course sequence scales before splitting. The extra comparison addresses this scaling leakage while retaining the same test rows.</a:t>
            </a:r>
            <a:endParaRPr lang="en-US" sz="1800"/>
          </a:p>
        </p:txBody>
      </p:sp>
    </p:spTree>
    <p:extLst>
      <p:ext uri="{BB962C8B-B14F-4D97-AF65-F5344CB8AC3E}">
        <ns3:creationId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Results Overview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16</a:t>
            </a:r>
            <a:endParaRPr lang="en-US" sz="1000"/>
          </a:p>
        </p:txBody>
      </p:sp>
      <p:graphicFrame>
        <p:nvGraphicFramePr>
          <p:cNvPr id="103" name="Results table 16"/>
          <p:cNvGraphicFramePr/>
          <p:nvPr/>
        </p:nvGraphicFramePr>
        <p:xfrm>
          <a:off x="863600" y="1841500"/>
          <a:ext cx="10414000" cy="3429000"/>
        </p:xfrm>
        <a:graphic>
          <a:graphicData uri="http://schemas.openxmlformats.org/drawingml/2006/main/table">
            <a:tbl>
              <a:tblPr firstRow="1" bandRow="0"/>
              <a:tblGrid>
                <a:gridCol w="3436620"/>
                <a:gridCol w="6977380"/>
              </a:tblGrid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badi"/>
                        </a:rPr>
                        <a:t>Analysis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badi"/>
                        </a:rPr>
                        <a:t>Finding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Python EDA, 90 launches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60 successful course labels. Orbit and year patterns differ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SQL, 101 launches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100 mission successes and 1 mission failure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Dashboard, 56 launches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KSC LC-39A leads in count and success rate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Classification, 18 test rows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Three methods tie at 83.3% accuracy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 104"/>
          <p:cNvSpPr txBox="1"/>
          <p:nvPr/>
        </p:nvSpPr>
        <p:spPr>
          <a:xfrm>
            <a:off x="863600" y="5588000"/>
            <a:ext cx="104140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The following sections preserve each dataset's denominator and outcome definition.</a:t>
            </a:r>
            <a:endParaRPr lang="en-US" sz="2000"/>
          </a:p>
        </p:txBody>
      </p:sp>
    </p:spTree>
    <p:extLst>
      <p:ext uri="{BB962C8B-B14F-4D97-AF65-F5344CB8AC3E}">
        <ns3:creationId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11430000" y="64135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badi"/>
              </a:rPr>
              <a:t>17</a:t>
            </a:r>
            <a:endParaRPr lang="en-US" sz="1000"/>
          </a:p>
        </p:txBody>
      </p:sp>
    </p:spTree>
    <p:extLst>
      <p:ext uri="{BB962C8B-B14F-4D97-AF65-F5344CB8AC3E}">
        <ns3:creationId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Flight Number vs. Launch Site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18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pic>
        <p:nvPicPr>
          <p:cNvPr id="104" name="01_flight_number_vs_launch_site.png" descr="01_flight_number_vs_launch_site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893595"/>
            <a:ext cx="7429500" cy="3705810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CCAFS SLC 40 contributes 55 of 90 launches.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KSC: 17/22 successes. VAFB: 10/13. CCAFS: 33/55.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Sites operate over different periods. A site effect is not isolated.</a:t>
            </a:r>
            <a:endParaRPr lang="en-US" sz="1800"/>
          </a:p>
        </p:txBody>
      </p:sp>
    </p:spTree>
    <p:extLst>
      <p:ext uri="{BB962C8B-B14F-4D97-AF65-F5344CB8AC3E}">
        <ns3:creationId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Payload vs. Launch Site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19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pic>
        <p:nvPicPr>
          <p:cNvPr id="104" name="02_payload_vs_launch_site.png" descr="02_payload_vs_launch_site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893595"/>
            <a:ext cx="7429500" cy="3705810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Payload ranges overlap across launch sites.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Both classes occur at similar masses. Mass alone does not separate outcomes.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Site comparisons should account for orbit and booster generation.</a:t>
            </a:r>
            <a:endParaRPr lang="en-US" sz="1800"/>
          </a:p>
        </p:txBody>
      </p:sp>
    </p:spTree>
    <p:extLst>
      <p:ext uri="{BB962C8B-B14F-4D97-AF65-F5344CB8AC3E}">
        <ns3:creationId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Success Rate by Orbit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20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pic>
        <p:nvPicPr>
          <p:cNvPr id="104" name="03_success_rate_by_orbit.png" descr="03_success_rate_by_orbit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2088359"/>
            <a:ext cx="7429500" cy="3316282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VLEO: 12/14 successes (85.7%). GTO: 14/27 (51.9%).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SSO: 5/5. GEO, HEO and ES-L1 each have only one launch.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A 100% rate from one launch has very little supporting evidence.</a:t>
            </a:r>
            <a:endParaRPr lang="en-US" sz="1800"/>
          </a:p>
        </p:txBody>
      </p:sp>
    </p:spTree>
    <p:extLst>
      <p:ext uri="{BB962C8B-B14F-4D97-AF65-F5344CB8AC3E}">
        <ns3:creationId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Flight Number vs. Orbit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21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pic>
        <p:nvPicPr>
          <p:cNvPr id="104" name="04_flight_number_vs_orbit.png" descr="04_flight_number_vs_orbit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902471"/>
            <a:ext cx="7429500" cy="3688057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Orbit categories occur at different stages of the launch history.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Later VLEO missions coincide with a more mature launch program.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Time and mission mix can confound an apparent orbit effect.</a:t>
            </a:r>
            <a:endParaRPr lang="en-US" sz="1800"/>
          </a:p>
        </p:txBody>
      </p:sp>
    </p:spTree>
    <p:extLst>
      <p:ext uri="{BB962C8B-B14F-4D97-AF65-F5344CB8AC3E}">
        <ns3:creationId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Payload vs. Orbit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22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pic>
        <p:nvPicPr>
          <p:cNvPr id="104" name="05_payload_vs_orbit.png" descr="05_payload_vs_orbit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902471"/>
            <a:ext cx="7429500" cy="3688057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Orbit constrains the payload range represented in the data.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GTO has 27 launches with mixed outcomes.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scatter plot supports joint analysis of payload and orbit.</a:t>
            </a:r>
            <a:endParaRPr lang="en-US" sz="1800"/>
          </a:p>
        </p:txBody>
      </p:sp>
    </p:spTree>
    <p:extLst>
      <p:ext uri="{BB962C8B-B14F-4D97-AF65-F5344CB8AC3E}">
        <ns3:creationId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Yearly Success Trend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23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EDA lab. Detailed references in speaker notes.</a:t>
            </a:r>
            <a:endParaRPr lang="en-US" sz="1000"/>
          </a:p>
        </p:txBody>
      </p:sp>
      <p:pic>
        <p:nvPicPr>
          <p:cNvPr id="104" name="06_yearly_success_rate.png" descr="06_yearly_success_rate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2088359"/>
            <a:ext cx="7429500" cy="3316282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2013: 0/3. 2017: 15/18. 2020: 16/19 successful labels.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rate generally improves but drops to 11/18 in 2018.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No 2011 record appears in this sample. Missing years are not zero rates.</a:t>
            </a:r>
            <a:endParaRPr lang="en-US" sz="1800"/>
          </a:p>
        </p:txBody>
      </p:sp>
    </p:spTree>
    <p:extLst>
      <p:ext uri="{BB962C8B-B14F-4D97-AF65-F5344CB8AC3E}">
        <ns3:creationId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Unique Launch Sites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24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DISTINCT Launch_Site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FROM SPACEXTABLE ORDER BY Launch_Site;</a:t>
            </a:r>
            <a:endParaRPr lang="en-US" sz="1400"/>
          </a:p>
        </p:txBody>
      </p:sp>
      <p:graphicFrame>
        <p:nvGraphicFramePr>
          <p:cNvPr id="105" name="Results table 24"/>
          <p:cNvGraphicFramePr/>
          <p:nvPr/>
        </p:nvGraphicFramePr>
        <p:xfrm>
          <a:off x="863600" y="2667000"/>
          <a:ext cx="10414000" cy="2159000"/>
        </p:xfrm>
        <a:graphic>
          <a:graphicData uri="http://schemas.openxmlformats.org/drawingml/2006/main/table">
            <a:tbl>
              <a:tblPr firstRow="1" bandRow="0"/>
              <a:tblGrid>
                <a:gridCol w="10414000"/>
              </a:tblGrid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Launch site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SLC-40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KSC LC-39A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VAFB SLC-4E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Four labels appear in the SQL source. This spelling differs from the 90-row API-derived sample.</a:t>
            </a:r>
            <a:endParaRPr lang="en-US" sz="1600"/>
          </a:p>
        </p:txBody>
      </p:sp>
    </p:spTree>
    <p:extLst>
      <p:ext uri="{BB962C8B-B14F-4D97-AF65-F5344CB8AC3E}">
        <ns3:creationId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First Five Records Matching CCA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25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Date, Booster_Version, Launch_Site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FROM SPACEXTABLE WHERE Launch_Site LIKE 'CCA%'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ORDER BY Date, "Time (UTC)" LIMIT 5;</a:t>
            </a:r>
            <a:endParaRPr lang="en-US" sz="1400"/>
          </a:p>
        </p:txBody>
      </p:sp>
      <p:graphicFrame>
        <p:nvGraphicFramePr>
          <p:cNvPr id="105" name="Results table 25"/>
          <p:cNvGraphicFramePr/>
          <p:nvPr/>
        </p:nvGraphicFramePr>
        <p:xfrm>
          <a:off x="863600" y="2667000"/>
          <a:ext cx="10414000" cy="2590800"/>
        </p:xfrm>
        <a:graphic>
          <a:graphicData uri="http://schemas.openxmlformats.org/drawingml/2006/main/table">
            <a:tbl>
              <a:tblPr firstRow="1" bandRow="0"/>
              <a:tblGrid>
                <a:gridCol w="2603500"/>
                <a:gridCol w="4165600"/>
                <a:gridCol w="3644900"/>
              </a:tblGrid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Date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Booster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Launch site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2010-06-04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v1.0 B0003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2010-12-08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v1.0 B0004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2012-05-22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v1.0 B0005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2012-10-08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v1.0 B0006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2013-03-01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v1.0 B0007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An explicit chronological order makes LIMIT 5 reproducible.</a:t>
            </a:r>
            <a:endParaRPr lang="en-US" sz="1600"/>
          </a:p>
        </p:txBody>
      </p:sp>
    </p:spTree>
    <p:extLst>
      <p:ext uri="{BB962C8B-B14F-4D97-AF65-F5344CB8AC3E}">
        <ns3:creationId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Total Payload for NASA (CRS)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26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SUM(PAYLOAD_MASS__KG_) AS Total_Payload_Mass_KG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FROM SPACEXTABLE WHERE Customer = 'NASA (CRS)';</a:t>
            </a:r>
            <a:endParaRPr lang="en-US" sz="1400"/>
          </a:p>
        </p:txBody>
      </p:sp>
      <p:graphicFrame>
        <p:nvGraphicFramePr>
          <p:cNvPr id="105" name="Results table 26"/>
          <p:cNvGraphicFramePr/>
          <p:nvPr/>
        </p:nvGraphicFramePr>
        <p:xfrm>
          <a:off x="863600" y="2667000"/>
          <a:ext cx="10414000" cy="1625600"/>
        </p:xfrm>
        <a:graphic>
          <a:graphicData uri="http://schemas.openxmlformats.org/drawingml/2006/main/table">
            <a:tbl>
              <a:tblPr firstRow="1" bandRow="0"/>
              <a:tblGrid>
                <a:gridCol w="5727700"/>
                <a:gridCol w="4686300"/>
              </a:tblGrid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Abadi"/>
                        </a:rPr>
                        <a:t>Customer filter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Abadi"/>
                        </a:rPr>
                        <a:t>Total payload mass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>
                          <a:solidFill>
                            <a:srgbClr val="25354B"/>
                          </a:solidFill>
                          <a:latin typeface="Abadi"/>
                        </a:rPr>
                        <a:t>NASA (CRS), exact label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>
                          <a:solidFill>
                            <a:srgbClr val="25354B"/>
                          </a:solidFill>
                          <a:latin typeface="Abadi"/>
                        </a:rPr>
                        <a:t>45,596 kg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This total covers the NASA (CRS) category only. It does not combine other NASA customer labels.</a:t>
            </a:r>
            <a:endParaRPr lang="en-US" sz="1600"/>
          </a:p>
        </p:txBody>
      </p:sp>
    </p:spTree>
    <p:extLst>
      <p:ext uri="{BB962C8B-B14F-4D97-AF65-F5344CB8AC3E}">
        <ns3:creationId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Average Payload for F9 v1.1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27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AVG(PAYLOAD_MASS__KG_) AS Average_Payload_Mass_KG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FROM SPACEXTABLE WHERE Booster_Version = 'F9 v1.1';</a:t>
            </a:r>
            <a:endParaRPr lang="en-US" sz="1400"/>
          </a:p>
        </p:txBody>
      </p:sp>
      <p:graphicFrame>
        <p:nvGraphicFramePr>
          <p:cNvPr id="105" name="Results table 27"/>
          <p:cNvGraphicFramePr/>
          <p:nvPr/>
        </p:nvGraphicFramePr>
        <p:xfrm>
          <a:off x="863600" y="2667000"/>
          <a:ext cx="10414000" cy="1625600"/>
        </p:xfrm>
        <a:graphic>
          <a:graphicData uri="http://schemas.openxmlformats.org/drawingml/2006/main/table">
            <a:tbl>
              <a:tblPr firstRow="1" bandRow="0"/>
              <a:tblGrid>
                <a:gridCol w="5727700"/>
                <a:gridCol w="4686300"/>
              </a:tblGrid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Abadi"/>
                        </a:rPr>
                        <a:t>Booster filter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Abadi"/>
                        </a:rPr>
                        <a:t>Average payload mass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>
                          <a:solidFill>
                            <a:srgbClr val="25354B"/>
                          </a:solidFill>
                          <a:latin typeface="Abadi"/>
                        </a:rPr>
                        <a:t>F9 v1.1, exact label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>
                          <a:solidFill>
                            <a:srgbClr val="25354B"/>
                          </a:solidFill>
                          <a:latin typeface="Abadi"/>
                        </a:rPr>
                        <a:t>2,928.4 kg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Serial-number variants are separate strings and do not match this exact filter.</a:t>
            </a:r>
            <a:endParaRPr lang="en-US" sz="1600"/>
          </a:p>
        </p:txBody>
      </p:sp>
    </p:spTree>
    <p:extLst>
      <p:ext uri="{BB962C8B-B14F-4D97-AF65-F5344CB8AC3E}">
        <ns3:creationId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First Successful Ground-Pad Landing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28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MIN(Date) AS First_Successful_Ground_Pad_Landing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FROM SPACEXTABLE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WHERE Landing_Outcome = 'Success (ground pad)';</a:t>
            </a:r>
            <a:endParaRPr lang="en-US" sz="1400"/>
          </a:p>
        </p:txBody>
      </p:sp>
      <p:graphicFrame>
        <p:nvGraphicFramePr>
          <p:cNvPr id="105" name="Results table 28"/>
          <p:cNvGraphicFramePr/>
          <p:nvPr/>
        </p:nvGraphicFramePr>
        <p:xfrm>
          <a:off x="863600" y="2667000"/>
          <a:ext cx="10414000" cy="1625600"/>
        </p:xfrm>
        <a:graphic>
          <a:graphicData uri="http://schemas.openxmlformats.org/drawingml/2006/main/table">
            <a:tbl>
              <a:tblPr firstRow="1" bandRow="0"/>
              <a:tblGrid>
                <a:gridCol w="5727700"/>
                <a:gridCol w="4686300"/>
              </a:tblGrid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Abadi"/>
                        </a:rPr>
                        <a:t>Landing outcome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Abadi"/>
                        </a:rPr>
                        <a:t>Earliest date in dataset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>
                          <a:solidFill>
                            <a:srgbClr val="25354B"/>
                          </a:solidFill>
                          <a:latin typeface="Abadi"/>
                        </a:rPr>
                        <a:t>Success (ground pad)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>
                          <a:solidFill>
                            <a:srgbClr val="25354B"/>
                          </a:solidFill>
                          <a:latin typeface="Abadi"/>
                        </a:rPr>
                        <a:t>22 December 2015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The result follows the SQL dataset's date field.</a:t>
            </a:r>
            <a:endParaRPr lang="en-US" sz="1600"/>
          </a:p>
        </p:txBody>
      </p:sp>
    </p:spTree>
    <p:extLst>
      <p:ext uri="{BB962C8B-B14F-4D97-AF65-F5344CB8AC3E}">
        <ns3:creationId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Drone-Ship Successes at 4,000-6,000 kg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29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DISTINCT Booster_Version FROM SPACEXTABLE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WHERE Landing_Outcome = 'Success (drone ship)'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AND PAYLOAD_MASS__KG_ &gt; 4000 AND PAYLOAD_MASS__KG_ &lt; 6000;</a:t>
            </a:r>
            <a:endParaRPr lang="en-US" sz="1400"/>
          </a:p>
        </p:txBody>
      </p:sp>
      <p:graphicFrame>
        <p:nvGraphicFramePr>
          <p:cNvPr id="105" name="Results table 29"/>
          <p:cNvGraphicFramePr/>
          <p:nvPr/>
        </p:nvGraphicFramePr>
        <p:xfrm>
          <a:off x="863600" y="2667000"/>
          <a:ext cx="10414000" cy="2159000"/>
        </p:xfrm>
        <a:graphic>
          <a:graphicData uri="http://schemas.openxmlformats.org/drawingml/2006/main/table">
            <a:tbl>
              <a:tblPr firstRow="1" bandRow="0"/>
              <a:tblGrid>
                <a:gridCol w="10414000"/>
              </a:tblGrid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Matching booster versions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FT B1021.2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FT B1031.2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FT B1022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FT B1026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Strict bounds exclude payloads equal to 4,000 or 6,000 kg.</a:t>
            </a:r>
            <a:endParaRPr lang="en-US" sz="1600"/>
          </a:p>
        </p:txBody>
      </p:sp>
    </p:spTree>
    <p:extLst>
      <p:ext uri="{BB962C8B-B14F-4D97-AF65-F5344CB8AC3E}">
        <ns3:creationId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Mission Outcomes in the SQL Dataset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30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CASE WHEN Mission_Outcome LIKE 'Success%' THEN 'Success'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WHEN Mission_Outcome LIKE 'Failure%' THEN 'Failure' END AS Result,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COUNT(*) FROM SPACEXTABLE GROUP BY Result;</a:t>
            </a:r>
            <a:endParaRPr lang="en-US" sz="1400"/>
          </a:p>
        </p:txBody>
      </p:sp>
      <p:graphicFrame>
        <p:nvGraphicFramePr>
          <p:cNvPr id="105" name="Results table 30"/>
          <p:cNvGraphicFramePr/>
          <p:nvPr/>
        </p:nvGraphicFramePr>
        <p:xfrm>
          <a:off x="863600" y="2667000"/>
          <a:ext cx="10414000" cy="2057400"/>
        </p:xfrm>
        <a:graphic>
          <a:graphicData uri="http://schemas.openxmlformats.org/drawingml/2006/main/table">
            <a:tbl>
              <a:tblPr firstRow="1" bandRow="0"/>
              <a:tblGrid>
                <a:gridCol w="5207000"/>
                <a:gridCol w="2603500"/>
                <a:gridCol w="2603500"/>
              </a:tblGrid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badi"/>
                        </a:rPr>
                        <a:t>Mission outcome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badi"/>
                        </a:rPr>
                        <a:t>Count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badi"/>
                        </a:rPr>
                        <a:t>Share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Success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100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99.0%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Failure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1.0%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Mission success concerns the mission objective. Booster landing outcomes are a different field.</a:t>
            </a:r>
            <a:endParaRPr lang="en-US" sz="1600"/>
          </a:p>
        </p:txBody>
      </p:sp>
    </p:spTree>
    <p:extLst>
      <p:ext uri="{BB962C8B-B14F-4D97-AF65-F5344CB8AC3E}">
        <ns3:creationId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Boosters Carrying the Maximum Payload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31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73200"/>
            <a:ext cx="10414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00" b="0">
                <a:solidFill>
                  <a:srgbClr val="25354B"/>
                </a:solidFill>
                <a:latin typeface="Courier New"/>
              </a:rPr>
              <a:t>SELECT DISTINCT Booster_Version FROM SPACEXTABLE</a:t>
            </a:r>
            <a:endParaRPr lang="en-US" sz="13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00" b="0">
                <a:solidFill>
                  <a:srgbClr val="25354B"/>
                </a:solidFill>
                <a:latin typeface="Courier New"/>
              </a:rPr>
              <a:t>WHERE PAYLOAD_MASS__KG_ = (SELECT MAX(PAYLOAD_MASS__KG_) FROM SPACEXTABLE);</a:t>
            </a:r>
            <a:endParaRPr lang="en-US" sz="1300"/>
          </a:p>
        </p:txBody>
      </p:sp>
      <p:sp>
        <p:nvSpPr>
          <p:cNvPr id="105" name="Text 105"/>
          <p:cNvSpPr txBox="1"/>
          <p:nvPr/>
        </p:nvSpPr>
        <p:spPr>
          <a:xfrm>
            <a:off x="863600" y="2298700"/>
            <a:ext cx="10414000" cy="546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00" b="0">
                <a:solidFill>
                  <a:srgbClr val="25354B"/>
                </a:solidFill>
                <a:latin typeface="Abadi"/>
              </a:rPr>
              <a:t>Maximum payload mass: 15,600 kg. Twelve distinct booster-version records match.</a:t>
            </a:r>
            <a:endParaRPr lang="en-US" sz="2000"/>
          </a:p>
        </p:txBody>
      </p:sp>
      <p:graphicFrame>
        <p:nvGraphicFramePr>
          <p:cNvPr id="106" name="Results table 31"/>
          <p:cNvGraphicFramePr/>
          <p:nvPr/>
        </p:nvGraphicFramePr>
        <p:xfrm>
          <a:off x="863600" y="2984500"/>
          <a:ext cx="10414000" cy="2755900"/>
        </p:xfrm>
        <a:graphic>
          <a:graphicData uri="http://schemas.openxmlformats.org/drawingml/2006/main/table">
            <a:tbl>
              <a:tblPr firstRow="1" bandRow="0"/>
              <a:tblGrid>
                <a:gridCol w="5207000"/>
                <a:gridCol w="5207000"/>
              </a:tblGrid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Booster version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Abadi"/>
                        </a:rPr>
                        <a:t>Booster version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B1048.4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B1051.4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B1048.5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B1051.6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B1049.4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B1056.4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B1049.5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B1058.3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B1049.7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B1060.2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B1051.3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solidFill>
                            <a:srgbClr val="25354B"/>
                          </a:solidFill>
                          <a:latin typeface="Abadi"/>
                        </a:rPr>
                        <a:t>F9 B5 B1060.3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Drone-Ship Landing Failures in 2015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32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85900"/>
            <a:ext cx="104140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Date, Booster_Version, Launch_Site FROM SPACEXTABLE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WHERE SUBSTR(Date, 1, 4) = '2015'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AND Landing_Outcome = 'Failure (drone ship)' ORDER BY Date;</a:t>
            </a:r>
            <a:endParaRPr lang="en-US" sz="1400"/>
          </a:p>
        </p:txBody>
      </p:sp>
      <p:graphicFrame>
        <p:nvGraphicFramePr>
          <p:cNvPr id="105" name="Results table 32"/>
          <p:cNvGraphicFramePr/>
          <p:nvPr/>
        </p:nvGraphicFramePr>
        <p:xfrm>
          <a:off x="863600" y="2667000"/>
          <a:ext cx="10414000" cy="2095500"/>
        </p:xfrm>
        <a:graphic>
          <a:graphicData uri="http://schemas.openxmlformats.org/drawingml/2006/main/table">
            <a:tbl>
              <a:tblPr firstRow="1" bandRow="0"/>
              <a:tblGrid>
                <a:gridCol w="2291080"/>
                <a:gridCol w="4478020"/>
                <a:gridCol w="3644900"/>
              </a:tblGrid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badi"/>
                        </a:rPr>
                        <a:t>Month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badi"/>
                        </a:rPr>
                        <a:t>Booster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badi"/>
                        </a:rPr>
                        <a:t>Launch site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January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F9 v1.1 B1012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April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F9 v1.1 B1015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7150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Both records have Landing_Outcome = Failure (drone ship).</a:t>
            </a:r>
            <a:endParaRPr lang="en-US" sz="1600"/>
          </a:p>
        </p:txBody>
      </p:sp>
    </p:spTree>
    <p:extLst>
      <p:ext uri="{BB962C8B-B14F-4D97-AF65-F5344CB8AC3E}">
        <ns3:creationId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Landing Outcomes: June 2010 to March 2017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33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SQL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473200"/>
            <a:ext cx="10414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SELECT Landing_Outcome, COUNT(*) FROM SPACEXTABLE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WHERE Date BETWEEN '2010-06-04' AND '2017-03-20'</a:t>
            </a:r>
            <a:endParaRPr lang="en-US" sz="1400"/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Courier New"/>
              </a:rPr>
              <a:t>GROUP BY Landing_Outcome ORDER BY COUNT(*) DESC;</a:t>
            </a:r>
            <a:endParaRPr lang="en-US" sz="1400"/>
          </a:p>
        </p:txBody>
      </p:sp>
      <p:graphicFrame>
        <p:nvGraphicFramePr>
          <p:cNvPr id="105" name="Results table 33"/>
          <p:cNvGraphicFramePr/>
          <p:nvPr/>
        </p:nvGraphicFramePr>
        <p:xfrm>
          <a:off x="863600" y="2540000"/>
          <a:ext cx="10414000" cy="3429000"/>
        </p:xfrm>
        <a:graphic>
          <a:graphicData uri="http://schemas.openxmlformats.org/drawingml/2006/main/table">
            <a:tbl>
              <a:tblPr firstRow="1" bandRow="0"/>
              <a:tblGrid>
                <a:gridCol w="8331200"/>
                <a:gridCol w="208280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badi"/>
                        </a:rPr>
                        <a:t>Landing outcome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badi"/>
                        </a:rPr>
                        <a:t>Count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No attempt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10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Success (drone ship)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Controlled (ocean)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Success (ground pad)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Failure (parachute)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Uncontrolled (ocean)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Precluded (drone ship)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25354B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60325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5354B"/>
                </a:solidFill>
                <a:latin typeface="Abadi"/>
              </a:rPr>
              <a:t>31 launches match the inclusive date window. Counts are in descending order.</a:t>
            </a:r>
            <a:endParaRPr lang="en-US" sz="1400"/>
          </a:p>
        </p:txBody>
      </p:sp>
    </p:spTree>
    <p:extLst>
      <p:ext uri="{BB962C8B-B14F-4D97-AF65-F5344CB8AC3E}">
        <ns3:creationId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11430000" y="64135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badi"/>
              </a:rPr>
              <a:t>34</a:t>
            </a:r>
            <a:endParaRPr lang="en-US" sz="1000"/>
          </a:p>
        </p:txBody>
      </p:sp>
    </p:spTree>
    <p:extLst>
      <p:ext uri="{BB962C8B-B14F-4D97-AF65-F5344CB8AC3E}">
        <ns3:creationId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Launch Sites on the US Coasts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35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Folium lab. Detailed references in speaker notes.</a:t>
            </a:r>
            <a:endParaRPr lang="en-US" sz="1000"/>
          </a:p>
        </p:txBody>
      </p:sp>
      <p:pic>
        <p:nvPicPr>
          <p:cNvPr id="104" name="folium_sites.png" descr="folium_sites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651149"/>
            <a:ext cx="7429500" cy="4190702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course data identifies four labels at coastal launch facilities.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VAFB is in California. The other three labels are in Florida.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Nearby Florida sites overlap at this map scale.</a:t>
            </a:r>
            <a:endParaRPr lang="en-US" sz="1800"/>
          </a:p>
        </p:txBody>
      </p:sp>
    </p:spTree>
    <p:extLst>
      <p:ext uri="{BB962C8B-B14F-4D97-AF65-F5344CB8AC3E}">
        <ns3:creationId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Launch Outcomes Behind the Folium Markers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36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Folium lab. Detailed references in speaker notes.</a:t>
            </a:r>
            <a:endParaRPr lang="en-US" sz="1000"/>
          </a:p>
        </p:txBody>
      </p:sp>
      <p:graphicFrame>
        <p:nvGraphicFramePr>
          <p:cNvPr id="104" name="Results table 36"/>
          <p:cNvGraphicFramePr/>
          <p:nvPr/>
        </p:nvGraphicFramePr>
        <p:xfrm>
          <a:off x="863600" y="1841500"/>
          <a:ext cx="10414000" cy="3302000"/>
        </p:xfrm>
        <a:graphic>
          <a:graphicData uri="http://schemas.openxmlformats.org/drawingml/2006/main/table">
            <a:tbl>
              <a:tblPr firstRow="1" bandRow="0"/>
              <a:tblGrid>
                <a:gridCol w="4165600"/>
                <a:gridCol w="2082800"/>
                <a:gridCol w="2082800"/>
                <a:gridCol w="2082800"/>
              </a:tblGrid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badi"/>
                        </a:rPr>
                        <a:t>Launch site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badi"/>
                        </a:rPr>
                        <a:t>Launches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badi"/>
                        </a:rPr>
                        <a:t>Successes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badi"/>
                        </a:rPr>
                        <a:t>Success rate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26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7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26.9%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CCAFS SLC-40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7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42.9%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KSC LC-39A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13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10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76.9%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VAFB SLC-4E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10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4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>
                          <a:solidFill>
                            <a:srgbClr val="25354B"/>
                          </a:solidFill>
                          <a:latin typeface="Abadi"/>
                        </a:rPr>
                        <a:t>40.0%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397500"/>
            <a:ext cx="10414000" cy="825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900" b="0">
                <a:solidFill>
                  <a:srgbClr val="25354B"/>
                </a:solidFill>
                <a:latin typeface="Abadi"/>
              </a:rPr>
              <a:t>The map encodes each launch as green (class 1) or red (class 0). Clusters group repeated site coordinates. This table makes the underlying rates explicit.</a:t>
            </a:r>
            <a:endParaRPr lang="en-US" sz="1900"/>
          </a:p>
        </p:txBody>
      </p:sp>
    </p:spTree>
    <p:extLst>
      <p:ext uri="{BB962C8B-B14F-4D97-AF65-F5344CB8AC3E}">
        <ns3:creationId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CCAFS LC-40 Proximity Analysis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37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Folium lab. Detailed references in speaker notes.</a:t>
            </a:r>
            <a:endParaRPr lang="en-US" sz="1000"/>
          </a:p>
        </p:txBody>
      </p:sp>
      <p:pic>
        <p:nvPicPr>
          <p:cNvPr id="104" name="folium_proximity.png" descr="folium_proximity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5119079" y="1587500"/>
            <a:ext cx="5446342" cy="4318000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Coastline: 0.922 km. Major road: 6.385 km.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Cape Canaveral centre: 19.568 km. Internal rail spur: about 3 m.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Distances use mapped reference points. Rail is a local spur, not the external network.</a:t>
            </a:r>
            <a:endParaRPr lang="en-US" sz="1800"/>
          </a:p>
        </p:txBody>
      </p:sp>
    </p:spTree>
    <p:extLst>
      <p:ext uri="{BB962C8B-B14F-4D97-AF65-F5344CB8AC3E}">
        <ns3:creationId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11430000" y="64135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badi"/>
              </a:rPr>
              <a:t>38</a:t>
            </a:r>
            <a:endParaRPr lang="en-US" sz="1000"/>
          </a:p>
        </p:txBody>
      </p:sp>
    </p:spTree>
    <p:extLst>
      <p:ext uri="{BB962C8B-B14F-4D97-AF65-F5344CB8AC3E}">
        <ns3:creationId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Successful Outcomes Across All Sites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39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Dash lab. Detailed references in speaker notes.</a:t>
            </a:r>
            <a:endParaRPr lang="en-US" sz="1000"/>
          </a:p>
        </p:txBody>
      </p:sp>
      <p:pic>
        <p:nvPicPr>
          <p:cNvPr id="104" name="dash_all.png" descr="dash_all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2057977"/>
            <a:ext cx="7429500" cy="3377045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56-row dashboard sample contains 24 successful outcomes.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KSC LC-39A contributes 10, or 41.7% of all successes.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A pie share is different from a site's success rate.</a:t>
            </a:r>
            <a:endParaRPr lang="en-US" sz="1800"/>
          </a:p>
        </p:txBody>
      </p:sp>
    </p:spTree>
    <p:extLst>
      <p:ext uri="{BB962C8B-B14F-4D97-AF65-F5344CB8AC3E}">
        <ns3:creationId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KSC LC-39A Has the Highest Site Rate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40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Dash lab. Detailed references in speaker notes.</a:t>
            </a:r>
            <a:endParaRPr lang="en-US" sz="1000"/>
          </a:p>
        </p:txBody>
      </p:sp>
      <p:pic>
        <p:nvPicPr>
          <p:cNvPr id="104" name="dash_ksc.png" descr="dash_ksc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652732"/>
            <a:ext cx="7429500" cy="4187536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10 successful and 3 unsuccessful outcomes.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Success rate: 10/13 = 76.9%, the highest in this sample.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 selected-site pie changes the denominator to that site's launches.</a:t>
            </a:r>
            <a:endParaRPr lang="en-US" sz="1800"/>
          </a:p>
        </p:txBody>
      </p:sp>
    </p:spTree>
    <p:extLst>
      <p:ext uri="{BB962C8B-B14F-4D97-AF65-F5344CB8AC3E}">
        <ns3:creationId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Payload Filters Reveal Different Outcome Mixes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41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Dash lab. Detailed references in speaker notes.</a:t>
            </a:r>
            <a:endParaRPr lang="en-US" sz="1000"/>
          </a:p>
        </p:txBody>
      </p:sp>
      <p:pic>
        <p:nvPicPr>
          <p:cNvPr id="104" name="dash_payload_full.png" descr="dash_payload_full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812800" y="1818986"/>
            <a:ext cx="5156200" cy="2343727"/>
          </a:xfrm>
          <a:prstGeom prst="rect">
            <a:avLst/>
          </a:prstGeom>
        </p:spPr>
      </p:pic>
      <p:pic>
        <p:nvPicPr>
          <p:cNvPr id="105" name="dash_payload_filtered.png" descr="dash_payload_filtered"/>
          <p:cNvPicPr>
            <a:picLocks noChangeAspect="1"/>
          </p:cNvPicPr>
          <p:nvPr/>
        </p:nvPicPr>
        <p:blipFill>
          <a:blip r:embed="rIdAsset105"/>
          <a:stretch>
            <a:fillRect/>
          </a:stretch>
        </p:blipFill>
        <p:spPr>
          <a:xfrm>
            <a:off x="6223000" y="1537739"/>
            <a:ext cx="5156200" cy="2906222"/>
          </a:xfrm>
          <a:prstGeom prst="rect">
            <a:avLst/>
          </a:prstGeom>
        </p:spPr>
      </p:pic>
      <p:sp>
        <p:nvSpPr>
          <p:cNvPr id="106" name="Text 106"/>
          <p:cNvSpPr txBox="1"/>
          <p:nvPr/>
        </p:nvSpPr>
        <p:spPr>
          <a:xfrm>
            <a:off x="863600" y="4572000"/>
            <a:ext cx="4953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700" b="1">
                <a:solidFill>
                  <a:srgbClr val="25354B"/>
                </a:solidFill>
                <a:latin typeface="Abadi"/>
              </a:rPr>
              <a:t>Full payload range</a:t>
            </a:r>
            <a:endParaRPr lang="en-US" sz="1700"/>
          </a:p>
        </p:txBody>
      </p:sp>
      <p:sp>
        <p:nvSpPr>
          <p:cNvPr id="107" name="Text 107"/>
          <p:cNvSpPr txBox="1"/>
          <p:nvPr/>
        </p:nvSpPr>
        <p:spPr>
          <a:xfrm>
            <a:off x="6273800" y="4572000"/>
            <a:ext cx="4953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700" b="1">
                <a:solidFill>
                  <a:srgbClr val="25354B"/>
                </a:solidFill>
                <a:latin typeface="Abadi"/>
              </a:rPr>
              <a:t>Filtered payload range</a:t>
            </a:r>
            <a:endParaRPr lang="en-US" sz="1700"/>
          </a:p>
        </p:txBody>
      </p:sp>
      <p:sp>
        <p:nvSpPr>
          <p:cNvPr id="108" name="Text 108"/>
          <p:cNvSpPr txBox="1"/>
          <p:nvPr/>
        </p:nvSpPr>
        <p:spPr>
          <a:xfrm>
            <a:off x="863600" y="5016500"/>
            <a:ext cx="104140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Using fixed 1,000 kg bins: 3,000 to under 4,000 kg has 8/11 successes (72.7%). The 6,000 to under 7,000 kg bin has 0/4.</a:t>
            </a:r>
            <a:endParaRPr lang="en-US" sz="1800"/>
          </a:p>
        </p:txBody>
      </p:sp>
      <p:sp>
        <p:nvSpPr>
          <p:cNvPr id="109" name="Text 109"/>
          <p:cNvSpPr txBox="1"/>
          <p:nvPr/>
        </p:nvSpPr>
        <p:spPr>
          <a:xfrm>
            <a:off x="863600" y="5867400"/>
            <a:ext cx="10414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B5 has 1/1 success. FT has 16/24, providing more evidence than a single B5 observation.</a:t>
            </a:r>
            <a:endParaRPr lang="en-US" sz="1600"/>
          </a:p>
        </p:txBody>
      </p:sp>
    </p:spTree>
    <p:extLst>
      <p:ext uri="{BB962C8B-B14F-4D97-AF65-F5344CB8AC3E}">
        <ns3:creationId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11430000" y="64135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badi"/>
              </a:rPr>
              <a:t>42</a:t>
            </a:r>
            <a:endParaRPr lang="en-US" sz="1000"/>
          </a:p>
        </p:txBody>
      </p:sp>
    </p:spTree>
    <p:extLst>
      <p:ext uri="{BB962C8B-B14F-4D97-AF65-F5344CB8AC3E}">
        <ns3:creationId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43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ML lab. Detailed references in speaker notes.</a:t>
            </a:r>
            <a:endParaRPr lang="en-US" sz="1000"/>
          </a:p>
        </p:txBody>
      </p:sp>
      <p:pic>
        <p:nvPicPr>
          <p:cNvPr id="104" name="05_model_comparison.png" descr="05_model_comparison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4127500" y="1793438"/>
            <a:ext cx="7429500" cy="3906124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Logistic regression, SVM and KNN tie: 15/18 correct (83.3%).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Decision tree: 13/18 (72.2%). Majority baseline: 12/18 (66.7%).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Fold-fitted scaling selects SVM by CV: 83.6% CV, 83.3% test.</a:t>
            </a:r>
            <a:endParaRPr lang="en-US" sz="1800"/>
          </a:p>
        </p:txBody>
      </p:sp>
    </p:spTree>
    <p:extLst>
      <p:ext uri="{BB962C8B-B14F-4D97-AF65-F5344CB8AC3E}">
        <ns3:creationId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SVM Confusion Matrix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44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ML lab. Detailed references in speaker notes.</a:t>
            </a:r>
            <a:endParaRPr lang="en-US" sz="1000"/>
          </a:p>
        </p:txBody>
      </p:sp>
      <p:pic>
        <p:nvPicPr>
          <p:cNvPr id="104" name="02_svm_confusion.png" descr="02_svm_confusion"/>
          <p:cNvPicPr>
            <a:picLocks noChangeAspect="1"/>
          </p:cNvPicPr>
          <p:nvPr/>
        </p:nvPicPr>
        <p:blipFill>
          <a:blip r:embed="rIdAsset104"/>
          <a:stretch>
            <a:fillRect/>
          </a:stretch>
        </p:blipFill>
        <p:spPr>
          <a:xfrm>
            <a:off x="5006095" y="1587500"/>
            <a:ext cx="5672309" cy="4318000"/>
          </a:xfrm>
          <a:prstGeom prst="rect">
            <a:avLst/>
          </a:prstGeom>
        </p:spPr>
      </p:pic>
      <p:sp>
        <p:nvSpPr>
          <p:cNvPr id="105" name="Text 105"/>
          <p:cNvSpPr txBox="1"/>
          <p:nvPr/>
        </p:nvSpPr>
        <p:spPr>
          <a:xfrm>
            <a:off x="863600" y="184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True negatives: 3. False positives: 3. False negatives: 0. True positives: 12.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311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Success recall: 100%. Success precision: 80%. Specificity: 50%.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4381500"/>
            <a:ext cx="3048000" cy="1168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All three errors predict success for an unsuccessful launch.</a:t>
            </a:r>
            <a:endParaRPr lang="en-US" sz="1800"/>
          </a:p>
        </p:txBody>
      </p:sp>
    </p:spTree>
    <p:extLst>
      <p:ext uri="{BB962C8B-B14F-4D97-AF65-F5344CB8AC3E}">
        <ns3:creationId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Conclusions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45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ML lab. Detailed references in speaker notes.</a:t>
            </a:r>
            <a:endParaRPr lang="en-US" sz="1000"/>
          </a:p>
        </p:txBody>
      </p:sp>
      <p:sp>
        <p:nvSpPr>
          <p:cNvPr id="104" name="Text 104"/>
          <p:cNvSpPr txBox="1"/>
          <p:nvPr/>
        </p:nvSpPr>
        <p:spPr>
          <a:xfrm>
            <a:off x="863600" y="17145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Historical outcome rates differ by orbit, year and site. Their effects overlap and are not causal estimates.</a:t>
            </a:r>
            <a:endParaRPr lang="en-US" sz="2100"/>
          </a:p>
        </p:txBody>
      </p:sp>
      <p:sp>
        <p:nvSpPr>
          <p:cNvPr id="105" name="Text 105"/>
          <p:cNvSpPr txBox="1"/>
          <p:nvPr/>
        </p:nvSpPr>
        <p:spPr>
          <a:xfrm>
            <a:off x="863600" y="27559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The dashboard's strongest site is KSC LC-39A at 10/13 successful outcomes.</a:t>
            </a:r>
            <a:endParaRPr lang="en-US" sz="2100"/>
          </a:p>
        </p:txBody>
      </p:sp>
      <p:sp>
        <p:nvSpPr>
          <p:cNvPr id="106" name="Text 106"/>
          <p:cNvSpPr txBox="1"/>
          <p:nvPr/>
        </p:nvSpPr>
        <p:spPr>
          <a:xfrm>
            <a:off x="863600" y="37973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Three classifiers achieve 83.3% test accuracy. Training cross-validation favors SVM.</a:t>
            </a:r>
            <a:endParaRPr lang="en-US" sz="2100"/>
          </a:p>
        </p:txBody>
      </p:sp>
      <p:sp>
        <p:nvSpPr>
          <p:cNvPr id="107" name="Text 107"/>
          <p:cNvSpPr txBox="1"/>
          <p:nvPr/>
        </p:nvSpPr>
        <p:spPr>
          <a:xfrm>
            <a:off x="863600" y="4838700"/>
            <a:ext cx="104140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100" b="0">
                <a:solidFill>
                  <a:srgbClr val="25354B"/>
                </a:solidFill>
                <a:latin typeface="Abadi"/>
              </a:rPr>
              <a:t>Next steps: use a future-time holdout, rebuild preprocessing on training data, and audit feature availability before launch.</a:t>
            </a:r>
            <a:endParaRPr lang="en-US" sz="2100"/>
          </a:p>
        </p:txBody>
      </p:sp>
    </p:spTree>
    <p:extLst>
      <p:ext uri="{BB962C8B-B14F-4D97-AF65-F5344CB8AC3E}">
        <ns3:creationId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Appendix: Dataset and Label Register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46</a:t>
            </a:r>
            <a:endParaRPr lang="en-US" sz="1000"/>
          </a:p>
        </p:txBody>
      </p:sp>
      <p:graphicFrame>
        <p:nvGraphicFramePr>
          <p:cNvPr id="103" name="Results table 46"/>
          <p:cNvGraphicFramePr/>
          <p:nvPr/>
        </p:nvGraphicFramePr>
        <p:xfrm>
          <a:off x="863600" y="1841500"/>
          <a:ext cx="10414000" cy="3429000"/>
        </p:xfrm>
        <a:graphic>
          <a:graphicData uri="http://schemas.openxmlformats.org/drawingml/2006/main/table">
            <a:tbl>
              <a:tblPr firstRow="1" bandRow="0"/>
              <a:tblGrid>
                <a:gridCol w="2603500"/>
                <a:gridCol w="1249680"/>
                <a:gridCol w="6560820"/>
              </a:tblGrid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Analysis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Rows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Abadi"/>
                        </a:rPr>
                        <a:t>Positive outcome definition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API / EDA / ML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90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True ASDS, True RTLS or True Ocean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SQL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101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Mission success and landing outcome are separate fields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Folium / Dash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56 each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Supplied binary class in each course file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Wikipedia scraping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121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solidFill>
                            <a:srgbClr val="25354B"/>
                          </a:solidFill>
                          <a:latin typeface="Abadi"/>
                        </a:rPr>
                        <a:t>Source outcome text, not merged into ML labels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 104"/>
          <p:cNvSpPr txBox="1"/>
          <p:nvPr/>
        </p:nvSpPr>
        <p:spPr>
          <a:xfrm>
            <a:off x="863600" y="55245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900" b="0">
                <a:solidFill>
                  <a:srgbClr val="25354B"/>
                </a:solidFill>
                <a:latin typeface="Abadi"/>
              </a:rPr>
              <a:t>The main 90-row sample has 41 successful drone-ship outcomes. Including 14 ground and 5 ocean successes produces 60 positive labels.</a:t>
            </a:r>
            <a:endParaRPr lang="en-US" sz="1900"/>
          </a:p>
        </p:txBody>
      </p:sp>
    </p:spTree>
    <p:extLst>
      <p:ext uri="{BB962C8B-B14F-4D97-AF65-F5344CB8AC3E}">
        <ns3:creationId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11430000" y="64135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badi"/>
              </a:rPr>
              <a:t>50</a:t>
            </a:r>
            <a:endParaRPr lang="en-US" sz="1000"/>
          </a:p>
        </p:txBody>
      </p:sp>
    </p:spTree>
    <p:extLst>
      <p:ext uri="{BB962C8B-B14F-4D97-AF65-F5344CB8AC3E}">
        <ns3:creationId val="661040741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Additional Insights and Evaluation Limits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47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50900" y="6375400"/>
            <a:ext cx="9906000" cy="21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536274"/>
                </a:solidFill>
                <a:latin typeface="Abadi"/>
              </a:rPr>
              <a:t>Source: ML lab. Detailed references in speaker notes.</a:t>
            </a:r>
            <a:endParaRPr lang="en-US" sz="1000"/>
          </a:p>
        </p:txBody>
      </p:sp>
      <p:graphicFrame>
        <p:nvGraphicFramePr>
          <p:cNvPr id="104" name="Results table 48"/>
          <p:cNvGraphicFramePr/>
          <p:nvPr/>
        </p:nvGraphicFramePr>
        <p:xfrm>
          <a:off x="863600" y="1841500"/>
          <a:ext cx="10414000" cy="3556000"/>
        </p:xfrm>
        <a:graphic>
          <a:graphicData uri="http://schemas.openxmlformats.org/drawingml/2006/main/table">
            <a:tbl>
              <a:tblPr firstRow="1" bandRow="0"/>
              <a:tblGrid>
                <a:gridCol w="4686300"/>
                <a:gridCol w="5727700"/>
              </a:tblGrid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badi"/>
                        </a:rPr>
                        <a:t>Observation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badi"/>
                        </a:rPr>
                        <a:t>Implication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15 correct predictions out of 18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Approximate 95% Wilson interval: 60.8%-94.2%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3 of 6 class-0 launches predicted as class 1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Accuracy conceals a 50% false-positive rate for this class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Five True Ocean outcomes count as positive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Excluding ocean outcomes gives 55/90 = 61.1%, not 66.7%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Scaling inside CV changes model tuning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KNN chooses k=5 instead of k=6, despite the same test accuracy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105"/>
          <p:cNvSpPr txBox="1"/>
          <p:nvPr/>
        </p:nvSpPr>
        <p:spPr>
          <a:xfrm>
            <a:off x="863600" y="56515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These checks sharpen the interpretation. They do not justify claiming deployment readiness.</a:t>
            </a:r>
            <a:endParaRPr lang="en-US" sz="1800"/>
          </a:p>
        </p:txBody>
      </p:sp>
    </p:spTree>
    <p:extLst>
      <p:ext uri="{BB962C8B-B14F-4D97-AF65-F5344CB8AC3E}">
        <ns3:creationId val="3410008520"/>
      </p:ext>
    </p:extLst>
  </p:cSld>
  <p:clrMapOvr>
    <a:masterClrMapping/>
  </p:clrMapOvr>
</p:sld>
</file>

<file path=ppt/slides/slide4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Code and Reproducibility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48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63600" y="1587500"/>
            <a:ext cx="10414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300" b="1">
                <a:solidFill>
                  <a:srgbClr val="25354B"/>
                </a:solidFill>
                <a:latin typeface="Abadi"/>
              </a:rPr>
              <a:t>GitHub project repository</a:t>
            </a:r>
            <a:endParaRPr lang="en-US" sz="2300"/>
          </a:p>
        </p:txBody>
      </p:sp>
      <p:sp>
        <p:nvSpPr>
          <p:cNvPr id="104" name="Text 104"/>
          <p:cNvSpPr txBox="1"/>
          <p:nvPr/>
        </p:nvSpPr>
        <p:spPr>
          <a:xfrm>
            <a:off x="863600" y="2070100"/>
            <a:ext cx="10414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300" b="0">
                <a:solidFill>
                  <a:srgbClr val="0B49CB"/>
                </a:solidFill>
                <a:latin typeface="Abadi"/>
                <a:hlinkClick r:id="rIdLink104"/>
              </a:rPr>
              <a:t>https://github.com/VavanZaa/IBM-Capstone</a:t>
            </a:r>
            <a:endParaRPr lang="en-US" sz="2300"/>
          </a:p>
        </p:txBody>
      </p:sp>
      <p:graphicFrame>
        <p:nvGraphicFramePr>
          <p:cNvPr id="105" name="Results table 49"/>
          <p:cNvGraphicFramePr/>
          <p:nvPr/>
        </p:nvGraphicFramePr>
        <p:xfrm>
          <a:off x="863600" y="2667000"/>
          <a:ext cx="10414000" cy="3048000"/>
        </p:xfrm>
        <a:graphic>
          <a:graphicData uri="http://schemas.openxmlformats.org/drawingml/2006/main/table">
            <a:tbl>
              <a:tblPr firstRow="1" bandRow="0"/>
              <a:tblGrid>
                <a:gridCol w="4373880"/>
                <a:gridCol w="6040120"/>
              </a:tblGrid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badi"/>
                        </a:rPr>
                        <a:t>Artifact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badi"/>
                        </a:rPr>
                        <a:t>Local location</a:t>
                      </a:r>
                    </a:p>
                  </a:txBody>
                  <a:tcPr marL="101600" marR="76200" marT="63500" marB="50800" anchor="ctr">
                    <a:solidFill>
                      <a:srgbClr val="0B49C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Completed notebooks and Python files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capstone/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Dataset snapshots and provenance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capstone/data/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Charts, maps and model predictions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dataviz_outputs/, location_outputs/, ml_outputs/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Dashboard entry point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spacex_dash_app.py</a:t>
                      </a:r>
                    </a:p>
                  </a:txBody>
                  <a:tcPr marL="101600" marR="76200" marT="63500" marB="508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Run instructions and dependencies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25354B"/>
                          </a:solidFill>
                          <a:latin typeface="Abadi"/>
                        </a:rPr>
                        <a:t>RUN_INSTRUCTIONS.txt and requirements.txt</a:t>
                      </a:r>
                    </a:p>
                  </a:txBody>
                  <a:tcPr marL="101600" marR="76200" marT="63500" marB="50800" anchor="ctr"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106" name="Text 106"/>
          <p:cNvSpPr txBox="1"/>
          <p:nvPr/>
        </p:nvSpPr>
        <p:spPr>
          <a:xfrm>
            <a:off x="863600" y="5803900"/>
            <a:ext cx="1041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25354B"/>
                </a:solidFill>
                <a:latin typeface="Abadi"/>
              </a:rPr>
              <a:t>Reproduce the dashboard with Python and rerun notebooks from top to bottom. This report uses the saved historical inputs.</a:t>
            </a:r>
            <a:endParaRPr lang="en-US" sz="1600"/>
          </a:p>
        </p:txBody>
      </p:sp>
    </p:spTree>
    <p:extLst>
      <p:ext uri="{BB962C8B-B14F-4D97-AF65-F5344CB8AC3E}">
        <ns3:creationId val="3410008520"/>
      </p:ext>
    </p:extLst>
  </p:cSld>
  <p:clrMapOvr>
    <a:masterClrMapping/>
  </p:clrMapOvr>
</p:sld>
</file>

<file path=ppt/slides/slide5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838200" y="520700"/>
            <a:ext cx="104775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0">
                <a:solidFill>
                  <a:srgbClr val="0B49CB"/>
                </a:solidFill>
                <a:latin typeface="Abadi"/>
              </a:rPr>
              <a:t>Sources and Technical References</a:t>
            </a:r>
            <a:endParaRPr lang="en-US" sz="2800"/>
          </a:p>
        </p:txBody>
      </p:sp>
      <p:sp>
        <p:nvSpPr>
          <p:cNvPr id="102" name="Text 102"/>
          <p:cNvSpPr txBox="1"/>
          <p:nvPr/>
        </p:nvSpPr>
        <p:spPr>
          <a:xfrm>
            <a:off x="11315700" y="62738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0">
                <a:solidFill>
                  <a:srgbClr val="397CAC"/>
                </a:solidFill>
                <a:latin typeface="Abadi"/>
              </a:rPr>
              <a:t>49</a:t>
            </a:r>
            <a:endParaRPr lang="en-US" sz="1000"/>
          </a:p>
        </p:txBody>
      </p:sp>
      <p:sp>
        <p:nvSpPr>
          <p:cNvPr id="103" name="Text 103"/>
          <p:cNvSpPr txBox="1"/>
          <p:nvPr/>
        </p:nvSpPr>
        <p:spPr>
          <a:xfrm>
            <a:off x="863600" y="1714500"/>
            <a:ext cx="10414000" cy="723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IBM Skills Network course datasets: API_call_spacex_api.json, dataset_part_1.csv, Spacex.csv, spacex_launch_geo.csv and spacex_launch_dash.csv.</a:t>
            </a:r>
            <a:endParaRPr lang="en-US" sz="1800"/>
          </a:p>
        </p:txBody>
      </p:sp>
      <p:sp>
        <p:nvSpPr>
          <p:cNvPr id="104" name="Text 104"/>
          <p:cNvSpPr txBox="1"/>
          <p:nvPr/>
        </p:nvSpPr>
        <p:spPr>
          <a:xfrm>
            <a:off x="863600" y="2540000"/>
            <a:ext cx="10414000" cy="723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Wikipedia historical launch tables: revision 1027686922, dated 9 June 2021.</a:t>
            </a:r>
            <a:endParaRPr lang="en-US" sz="1800"/>
          </a:p>
        </p:txBody>
      </p:sp>
      <p:sp>
        <p:nvSpPr>
          <p:cNvPr id="105" name="Text 105"/>
          <p:cNvSpPr txBox="1"/>
          <p:nvPr/>
        </p:nvSpPr>
        <p:spPr>
          <a:xfrm>
            <a:off x="863600" y="3365500"/>
            <a:ext cx="10414000" cy="723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Archived SpaceX API metadata: resource URLs and field provenance in data/spacex_lab_metadata.json.</a:t>
            </a:r>
            <a:endParaRPr lang="en-US" sz="1800"/>
          </a:p>
        </p:txBody>
      </p:sp>
      <p:sp>
        <p:nvSpPr>
          <p:cNvPr id="106" name="Text 106"/>
          <p:cNvSpPr txBox="1"/>
          <p:nvPr/>
        </p:nvSpPr>
        <p:spPr>
          <a:xfrm>
            <a:off x="863600" y="4191000"/>
            <a:ext cx="10414000" cy="723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OpenStreetMap contributors: extracted features dated 20 October 2026. ODbL attribution applies to the map data.</a:t>
            </a:r>
            <a:endParaRPr lang="en-US" sz="1800"/>
          </a:p>
        </p:txBody>
      </p:sp>
      <p:sp>
        <p:nvSpPr>
          <p:cNvPr id="107" name="Text 107"/>
          <p:cNvSpPr txBox="1"/>
          <p:nvPr/>
        </p:nvSpPr>
        <p:spPr>
          <a:xfrm>
            <a:off x="863600" y="5016500"/>
            <a:ext cx="10414000" cy="723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800" b="0">
                <a:solidFill>
                  <a:srgbClr val="25354B"/>
                </a:solidFill>
                <a:latin typeface="Abadi"/>
              </a:rPr>
              <a:t>scikit-learn: model selection and preprocessing guidance. Plotly Dash and Folium: interactive visualization libraries.</a:t>
            </a:r>
            <a:endParaRPr lang="en-US" sz="1800"/>
          </a:p>
        </p:txBody>
      </p:sp>
    </p:spTree>
    <p:extLst>
      <p:ext uri="{BB962C8B-B14F-4D97-AF65-F5344CB8AC3E}">
        <ns3:creationId val="34100085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